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9" r:id="rId1"/>
  </p:sldMasterIdLst>
  <p:notesMasterIdLst>
    <p:notesMasterId r:id="rId17"/>
  </p:notesMasterIdLst>
  <p:handoutMasterIdLst>
    <p:handoutMasterId r:id="rId18"/>
  </p:handoutMasterIdLst>
  <p:sldIdLst>
    <p:sldId id="282" r:id="rId2"/>
    <p:sldId id="257" r:id="rId3"/>
    <p:sldId id="258" r:id="rId4"/>
    <p:sldId id="259" r:id="rId5"/>
    <p:sldId id="274" r:id="rId6"/>
    <p:sldId id="276" r:id="rId7"/>
    <p:sldId id="277" r:id="rId8"/>
    <p:sldId id="278" r:id="rId9"/>
    <p:sldId id="279" r:id="rId10"/>
    <p:sldId id="280" r:id="rId11"/>
    <p:sldId id="281" r:id="rId12"/>
    <p:sldId id="262" r:id="rId13"/>
    <p:sldId id="284" r:id="rId14"/>
    <p:sldId id="283"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0A4EB06-427D-240F-AF1B-317DB92944C3}" name="Vinaypal Waghmare" initials="VW" userId="16fc7eb803ba2968" providerId="Windows Live"/>
  <p188:author id="{55E46513-F20D-B3F7-5342-F69E19FCD75A}" name="Mahesh Gowda" initials="MG" userId="57edde3cf965170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3333"/>
    <a:srgbClr val="F46220"/>
    <a:srgbClr val="EE7612"/>
    <a:srgbClr val="FFA500"/>
    <a:srgbClr val="E8A956"/>
    <a:srgbClr val="FB8809"/>
    <a:srgbClr val="FF3300"/>
    <a:srgbClr val="CF1B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41" autoAdjust="0"/>
    <p:restoredTop sz="94660"/>
  </p:normalViewPr>
  <p:slideViewPr>
    <p:cSldViewPr snapToGrid="0">
      <p:cViewPr varScale="1">
        <p:scale>
          <a:sx n="64" d="100"/>
          <a:sy n="64" d="100"/>
        </p:scale>
        <p:origin x="86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 KISHORE KUMAR" userId="81b74552c67aac9f" providerId="LiveId" clId="{3B696301-8CEC-4E11-AF13-A3E3B3ECADB4}"/>
    <pc:docChg chg="modSld">
      <pc:chgData name="M KISHORE KUMAR" userId="81b74552c67aac9f" providerId="LiveId" clId="{3B696301-8CEC-4E11-AF13-A3E3B3ECADB4}" dt="2026-01-07T16:52:42.149" v="0" actId="1076"/>
      <pc:docMkLst>
        <pc:docMk/>
      </pc:docMkLst>
      <pc:sldChg chg="modSp mod">
        <pc:chgData name="M KISHORE KUMAR" userId="81b74552c67aac9f" providerId="LiveId" clId="{3B696301-8CEC-4E11-AF13-A3E3B3ECADB4}" dt="2026-01-07T16:52:42.149" v="0" actId="1076"/>
        <pc:sldMkLst>
          <pc:docMk/>
          <pc:sldMk cId="4159394588" sldId="283"/>
        </pc:sldMkLst>
        <pc:spChg chg="mod">
          <ac:chgData name="M KISHORE KUMAR" userId="81b74552c67aac9f" providerId="LiveId" clId="{3B696301-8CEC-4E11-AF13-A3E3B3ECADB4}" dt="2026-01-07T16:52:42.149" v="0" actId="1076"/>
          <ac:spMkLst>
            <pc:docMk/>
            <pc:sldMk cId="4159394588" sldId="283"/>
            <ac:spMk id="2" creationId="{0B5F0297-7E39-97D4-09C3-784510082006}"/>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CF82F1-D687-4C72-91E1-CA175BB20948}" type="doc">
      <dgm:prSet loTypeId="urn:microsoft.com/office/officeart/2018/2/layout/IconVerticalSolidList" loCatId="icon" qsTypeId="urn:microsoft.com/office/officeart/2005/8/quickstyle/simple1" qsCatId="simple" csTypeId="urn:microsoft.com/office/officeart/2005/8/colors/colorful2" csCatId="colorful" phldr="1"/>
      <dgm:spPr/>
      <dgm:t>
        <a:bodyPr/>
        <a:lstStyle/>
        <a:p>
          <a:endParaRPr lang="en-US"/>
        </a:p>
      </dgm:t>
    </dgm:pt>
    <dgm:pt modelId="{46FD8E04-2A47-4EC4-9BDE-E80C36BE81A4}">
      <dgm:prSet/>
      <dgm:spPr/>
      <dgm:t>
        <a:bodyPr/>
        <a:lstStyle/>
        <a:p>
          <a:pPr>
            <a:lnSpc>
              <a:spcPct val="100000"/>
            </a:lnSpc>
          </a:pPr>
          <a:r>
            <a:rPr lang="en-US" b="1" dirty="0">
              <a:latin typeface="Constantia" panose="02030602050306030303" pitchFamily="18" charset="0"/>
            </a:rPr>
            <a:t>INTRODUCTION</a:t>
          </a:r>
          <a:endParaRPr lang="en-US" dirty="0">
            <a:latin typeface="Constantia" panose="02030602050306030303" pitchFamily="18" charset="0"/>
          </a:endParaRPr>
        </a:p>
      </dgm:t>
    </dgm:pt>
    <dgm:pt modelId="{16237BD5-54CF-4CE4-8783-01C1D04C809B}" type="parTrans" cxnId="{7AFDC109-828B-4141-91EC-C662846B39DA}">
      <dgm:prSet/>
      <dgm:spPr/>
      <dgm:t>
        <a:bodyPr/>
        <a:lstStyle/>
        <a:p>
          <a:endParaRPr lang="en-US"/>
        </a:p>
      </dgm:t>
    </dgm:pt>
    <dgm:pt modelId="{2AF8239A-BD8F-4C50-B2ED-4D8753D4C8C4}" type="sibTrans" cxnId="{7AFDC109-828B-4141-91EC-C662846B39DA}">
      <dgm:prSet/>
      <dgm:spPr/>
      <dgm:t>
        <a:bodyPr/>
        <a:lstStyle/>
        <a:p>
          <a:endParaRPr lang="en-US"/>
        </a:p>
      </dgm:t>
    </dgm:pt>
    <dgm:pt modelId="{4E265C52-EEEA-47E2-A291-D419BCEECBA6}">
      <dgm:prSet/>
      <dgm:spPr/>
      <dgm:t>
        <a:bodyPr/>
        <a:lstStyle/>
        <a:p>
          <a:pPr>
            <a:lnSpc>
              <a:spcPct val="100000"/>
            </a:lnSpc>
          </a:pPr>
          <a:r>
            <a:rPr lang="en-US" b="1" dirty="0">
              <a:latin typeface="Constantia" panose="02030602050306030303" pitchFamily="18" charset="0"/>
            </a:rPr>
            <a:t>DATA OVERVIEW</a:t>
          </a:r>
          <a:endParaRPr lang="en-US" dirty="0">
            <a:latin typeface="Constantia" panose="02030602050306030303" pitchFamily="18" charset="0"/>
          </a:endParaRPr>
        </a:p>
      </dgm:t>
    </dgm:pt>
    <dgm:pt modelId="{6A7503DA-F798-46CD-9756-B0EE6BDF45F8}" type="parTrans" cxnId="{D149B2F6-ABA8-4897-9401-30E2B7A03D54}">
      <dgm:prSet/>
      <dgm:spPr/>
      <dgm:t>
        <a:bodyPr/>
        <a:lstStyle/>
        <a:p>
          <a:endParaRPr lang="en-US"/>
        </a:p>
      </dgm:t>
    </dgm:pt>
    <dgm:pt modelId="{938BDF9B-C003-4DAD-87FA-053AD6B0ADA3}" type="sibTrans" cxnId="{D149B2F6-ABA8-4897-9401-30E2B7A03D54}">
      <dgm:prSet/>
      <dgm:spPr/>
      <dgm:t>
        <a:bodyPr/>
        <a:lstStyle/>
        <a:p>
          <a:endParaRPr lang="en-US"/>
        </a:p>
      </dgm:t>
    </dgm:pt>
    <dgm:pt modelId="{2364542A-BC84-4022-BA61-92F1BE2C65A3}">
      <dgm:prSet/>
      <dgm:spPr/>
      <dgm:t>
        <a:bodyPr/>
        <a:lstStyle/>
        <a:p>
          <a:pPr>
            <a:lnSpc>
              <a:spcPct val="100000"/>
            </a:lnSpc>
          </a:pPr>
          <a:r>
            <a:rPr lang="en-US" b="1" dirty="0">
              <a:latin typeface="Constantia" panose="02030602050306030303" pitchFamily="18" charset="0"/>
            </a:rPr>
            <a:t>KPIs &amp; ANALYSIS</a:t>
          </a:r>
          <a:endParaRPr lang="en-US" dirty="0">
            <a:latin typeface="Constantia" panose="02030602050306030303" pitchFamily="18" charset="0"/>
          </a:endParaRPr>
        </a:p>
      </dgm:t>
    </dgm:pt>
    <dgm:pt modelId="{DE5E8BA2-799C-4EE7-9059-876D9870111B}" type="parTrans" cxnId="{B65963E2-D997-488E-8021-AC90841F88A9}">
      <dgm:prSet/>
      <dgm:spPr/>
      <dgm:t>
        <a:bodyPr/>
        <a:lstStyle/>
        <a:p>
          <a:endParaRPr lang="en-US"/>
        </a:p>
      </dgm:t>
    </dgm:pt>
    <dgm:pt modelId="{6D2D52E5-724A-4F17-838C-837ED3D2C0AF}" type="sibTrans" cxnId="{B65963E2-D997-488E-8021-AC90841F88A9}">
      <dgm:prSet/>
      <dgm:spPr/>
      <dgm:t>
        <a:bodyPr/>
        <a:lstStyle/>
        <a:p>
          <a:endParaRPr lang="en-US"/>
        </a:p>
      </dgm:t>
    </dgm:pt>
    <dgm:pt modelId="{BAA182C1-EE27-4F05-9583-26929CE2A454}">
      <dgm:prSet/>
      <dgm:spPr/>
      <dgm:t>
        <a:bodyPr/>
        <a:lstStyle/>
        <a:p>
          <a:pPr>
            <a:lnSpc>
              <a:spcPct val="100000"/>
            </a:lnSpc>
          </a:pPr>
          <a:r>
            <a:rPr lang="en-US" b="1" dirty="0">
              <a:latin typeface="Constantia" panose="02030602050306030303" pitchFamily="18" charset="0"/>
            </a:rPr>
            <a:t>DASHBOARD</a:t>
          </a:r>
        </a:p>
      </dgm:t>
    </dgm:pt>
    <dgm:pt modelId="{1E3613EF-4915-4F38-9143-D5EFE464834D}" type="parTrans" cxnId="{686CE6C1-60B1-414E-9D3E-C99AA227F494}">
      <dgm:prSet/>
      <dgm:spPr/>
      <dgm:t>
        <a:bodyPr/>
        <a:lstStyle/>
        <a:p>
          <a:endParaRPr lang="en-US"/>
        </a:p>
      </dgm:t>
    </dgm:pt>
    <dgm:pt modelId="{D7F9F1B2-19AC-4D98-A80F-5AEE07370F3C}" type="sibTrans" cxnId="{686CE6C1-60B1-414E-9D3E-C99AA227F494}">
      <dgm:prSet/>
      <dgm:spPr/>
      <dgm:t>
        <a:bodyPr/>
        <a:lstStyle/>
        <a:p>
          <a:endParaRPr lang="en-US"/>
        </a:p>
      </dgm:t>
    </dgm:pt>
    <dgm:pt modelId="{2D28259C-75B3-4AE0-AB81-8E1C92631652}" type="pres">
      <dgm:prSet presAssocID="{5DCF82F1-D687-4C72-91E1-CA175BB20948}" presName="root" presStyleCnt="0">
        <dgm:presLayoutVars>
          <dgm:dir/>
          <dgm:resizeHandles val="exact"/>
        </dgm:presLayoutVars>
      </dgm:prSet>
      <dgm:spPr/>
    </dgm:pt>
    <dgm:pt modelId="{E563C580-76CE-4DBB-A05A-EEE036D5B4E0}" type="pres">
      <dgm:prSet presAssocID="{46FD8E04-2A47-4EC4-9BDE-E80C36BE81A4}" presName="compNode" presStyleCnt="0"/>
      <dgm:spPr/>
    </dgm:pt>
    <dgm:pt modelId="{A413B4FC-5D2A-4EA3-B719-157D6BCF909B}" type="pres">
      <dgm:prSet presAssocID="{46FD8E04-2A47-4EC4-9BDE-E80C36BE81A4}" presName="bgRect" presStyleLbl="bgShp" presStyleIdx="0" presStyleCnt="4"/>
      <dgm:spPr/>
    </dgm:pt>
    <dgm:pt modelId="{C4C85C08-2BE0-410B-81AD-15AEA5DBE7A7}" type="pres">
      <dgm:prSet presAssocID="{46FD8E04-2A47-4EC4-9BDE-E80C36BE81A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pt>
    <dgm:pt modelId="{DAF073A6-D27D-4E28-910E-87DD823D2DD4}" type="pres">
      <dgm:prSet presAssocID="{46FD8E04-2A47-4EC4-9BDE-E80C36BE81A4}" presName="spaceRect" presStyleCnt="0"/>
      <dgm:spPr/>
    </dgm:pt>
    <dgm:pt modelId="{CC427F6B-A498-4300-8B37-22E341791E66}" type="pres">
      <dgm:prSet presAssocID="{46FD8E04-2A47-4EC4-9BDE-E80C36BE81A4}" presName="parTx" presStyleLbl="revTx" presStyleIdx="0" presStyleCnt="4">
        <dgm:presLayoutVars>
          <dgm:chMax val="0"/>
          <dgm:chPref val="0"/>
        </dgm:presLayoutVars>
      </dgm:prSet>
      <dgm:spPr/>
    </dgm:pt>
    <dgm:pt modelId="{97F36E46-F7F9-49DA-8131-7D6C0DA345B4}" type="pres">
      <dgm:prSet presAssocID="{2AF8239A-BD8F-4C50-B2ED-4D8753D4C8C4}" presName="sibTrans" presStyleCnt="0"/>
      <dgm:spPr/>
    </dgm:pt>
    <dgm:pt modelId="{94B27483-2F0A-49AC-B9E6-38660E78C7D2}" type="pres">
      <dgm:prSet presAssocID="{4E265C52-EEEA-47E2-A291-D419BCEECBA6}" presName="compNode" presStyleCnt="0"/>
      <dgm:spPr/>
    </dgm:pt>
    <dgm:pt modelId="{08421010-BEFE-46D2-86D3-900BC2F01F38}" type="pres">
      <dgm:prSet presAssocID="{4E265C52-EEEA-47E2-A291-D419BCEECBA6}" presName="bgRect" presStyleLbl="bgShp" presStyleIdx="1" presStyleCnt="4"/>
      <dgm:spPr/>
    </dgm:pt>
    <dgm:pt modelId="{D1744A23-F599-4133-AA03-0DFA9EA4F2BA}" type="pres">
      <dgm:prSet presAssocID="{4E265C52-EEEA-47E2-A291-D419BCEECBA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B7C0DDD2-F3E2-4A18-9BAB-B3E208251C18}" type="pres">
      <dgm:prSet presAssocID="{4E265C52-EEEA-47E2-A291-D419BCEECBA6}" presName="spaceRect" presStyleCnt="0"/>
      <dgm:spPr/>
    </dgm:pt>
    <dgm:pt modelId="{F26C3C71-5F35-4E92-8D99-E508B3F58BF1}" type="pres">
      <dgm:prSet presAssocID="{4E265C52-EEEA-47E2-A291-D419BCEECBA6}" presName="parTx" presStyleLbl="revTx" presStyleIdx="1" presStyleCnt="4">
        <dgm:presLayoutVars>
          <dgm:chMax val="0"/>
          <dgm:chPref val="0"/>
        </dgm:presLayoutVars>
      </dgm:prSet>
      <dgm:spPr/>
    </dgm:pt>
    <dgm:pt modelId="{75DF5FE3-7A3E-4FD1-AC9B-110E3F6DF391}" type="pres">
      <dgm:prSet presAssocID="{938BDF9B-C003-4DAD-87FA-053AD6B0ADA3}" presName="sibTrans" presStyleCnt="0"/>
      <dgm:spPr/>
    </dgm:pt>
    <dgm:pt modelId="{18480FBD-6288-4D87-ACA8-79B232C94402}" type="pres">
      <dgm:prSet presAssocID="{2364542A-BC84-4022-BA61-92F1BE2C65A3}" presName="compNode" presStyleCnt="0"/>
      <dgm:spPr/>
    </dgm:pt>
    <dgm:pt modelId="{1A9B98B9-0F03-463B-9E80-69C58A80E058}" type="pres">
      <dgm:prSet presAssocID="{2364542A-BC84-4022-BA61-92F1BE2C65A3}" presName="bgRect" presStyleLbl="bgShp" presStyleIdx="2" presStyleCnt="4"/>
      <dgm:spPr/>
    </dgm:pt>
    <dgm:pt modelId="{F4CA2AC4-4D27-473C-AAE4-8A3B92884E86}" type="pres">
      <dgm:prSet presAssocID="{2364542A-BC84-4022-BA61-92F1BE2C65A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hield"/>
        </a:ext>
      </dgm:extLst>
    </dgm:pt>
    <dgm:pt modelId="{0A122BA9-668B-43B0-BAC4-FA22944BA035}" type="pres">
      <dgm:prSet presAssocID="{2364542A-BC84-4022-BA61-92F1BE2C65A3}" presName="spaceRect" presStyleCnt="0"/>
      <dgm:spPr/>
    </dgm:pt>
    <dgm:pt modelId="{0B0437AE-C009-49CE-A919-B125437581BF}" type="pres">
      <dgm:prSet presAssocID="{2364542A-BC84-4022-BA61-92F1BE2C65A3}" presName="parTx" presStyleLbl="revTx" presStyleIdx="2" presStyleCnt="4">
        <dgm:presLayoutVars>
          <dgm:chMax val="0"/>
          <dgm:chPref val="0"/>
        </dgm:presLayoutVars>
      </dgm:prSet>
      <dgm:spPr/>
    </dgm:pt>
    <dgm:pt modelId="{5B8EFC73-9A46-468E-8592-DEFFEA8AA48C}" type="pres">
      <dgm:prSet presAssocID="{6D2D52E5-724A-4F17-838C-837ED3D2C0AF}" presName="sibTrans" presStyleCnt="0"/>
      <dgm:spPr/>
    </dgm:pt>
    <dgm:pt modelId="{6F8843F4-B2C9-4835-ACAE-E4B36CF33EEA}" type="pres">
      <dgm:prSet presAssocID="{BAA182C1-EE27-4F05-9583-26929CE2A454}" presName="compNode" presStyleCnt="0"/>
      <dgm:spPr/>
    </dgm:pt>
    <dgm:pt modelId="{D79B7091-7751-4FA0-B18D-7DFE0C977924}" type="pres">
      <dgm:prSet presAssocID="{BAA182C1-EE27-4F05-9583-26929CE2A454}" presName="bgRect" presStyleLbl="bgShp" presStyleIdx="3" presStyleCnt="4"/>
      <dgm:spPr/>
    </dgm:pt>
    <dgm:pt modelId="{9253BA37-58B6-40F3-8CE9-AF64FB9794E7}" type="pres">
      <dgm:prSet presAssocID="{BAA182C1-EE27-4F05-9583-26929CE2A454}"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Gauge with solid fill"/>
        </a:ext>
      </dgm:extLst>
    </dgm:pt>
    <dgm:pt modelId="{41FC6B1C-EEBA-421E-B71D-B828B93A63BE}" type="pres">
      <dgm:prSet presAssocID="{BAA182C1-EE27-4F05-9583-26929CE2A454}" presName="spaceRect" presStyleCnt="0"/>
      <dgm:spPr/>
    </dgm:pt>
    <dgm:pt modelId="{0F189A86-5536-48C3-A947-E08AC96B9812}" type="pres">
      <dgm:prSet presAssocID="{BAA182C1-EE27-4F05-9583-26929CE2A454}" presName="parTx" presStyleLbl="revTx" presStyleIdx="3" presStyleCnt="4">
        <dgm:presLayoutVars>
          <dgm:chMax val="0"/>
          <dgm:chPref val="0"/>
        </dgm:presLayoutVars>
      </dgm:prSet>
      <dgm:spPr/>
    </dgm:pt>
  </dgm:ptLst>
  <dgm:cxnLst>
    <dgm:cxn modelId="{0CBBBF06-F474-4F3A-9295-D934338D5EB8}" type="presOf" srcId="{46FD8E04-2A47-4EC4-9BDE-E80C36BE81A4}" destId="{CC427F6B-A498-4300-8B37-22E341791E66}" srcOrd="0" destOrd="0" presId="urn:microsoft.com/office/officeart/2018/2/layout/IconVerticalSolidList"/>
    <dgm:cxn modelId="{7AFDC109-828B-4141-91EC-C662846B39DA}" srcId="{5DCF82F1-D687-4C72-91E1-CA175BB20948}" destId="{46FD8E04-2A47-4EC4-9BDE-E80C36BE81A4}" srcOrd="0" destOrd="0" parTransId="{16237BD5-54CF-4CE4-8783-01C1D04C809B}" sibTransId="{2AF8239A-BD8F-4C50-B2ED-4D8753D4C8C4}"/>
    <dgm:cxn modelId="{DC16C30F-AFAC-49EF-A653-02B63DB1721A}" type="presOf" srcId="{5DCF82F1-D687-4C72-91E1-CA175BB20948}" destId="{2D28259C-75B3-4AE0-AB81-8E1C92631652}" srcOrd="0" destOrd="0" presId="urn:microsoft.com/office/officeart/2018/2/layout/IconVerticalSolidList"/>
    <dgm:cxn modelId="{DC5A8C9A-06A6-4B39-BDED-1195F0010D69}" type="presOf" srcId="{2364542A-BC84-4022-BA61-92F1BE2C65A3}" destId="{0B0437AE-C009-49CE-A919-B125437581BF}" srcOrd="0" destOrd="0" presId="urn:microsoft.com/office/officeart/2018/2/layout/IconVerticalSolidList"/>
    <dgm:cxn modelId="{4968589F-04BC-47FB-9D95-1E0DD563102F}" type="presOf" srcId="{BAA182C1-EE27-4F05-9583-26929CE2A454}" destId="{0F189A86-5536-48C3-A947-E08AC96B9812}" srcOrd="0" destOrd="0" presId="urn:microsoft.com/office/officeart/2018/2/layout/IconVerticalSolidList"/>
    <dgm:cxn modelId="{686CE6C1-60B1-414E-9D3E-C99AA227F494}" srcId="{5DCF82F1-D687-4C72-91E1-CA175BB20948}" destId="{BAA182C1-EE27-4F05-9583-26929CE2A454}" srcOrd="3" destOrd="0" parTransId="{1E3613EF-4915-4F38-9143-D5EFE464834D}" sibTransId="{D7F9F1B2-19AC-4D98-A80F-5AEE07370F3C}"/>
    <dgm:cxn modelId="{935AB4C9-2FDD-4167-A15B-6FA870978F87}" type="presOf" srcId="{4E265C52-EEEA-47E2-A291-D419BCEECBA6}" destId="{F26C3C71-5F35-4E92-8D99-E508B3F58BF1}" srcOrd="0" destOrd="0" presId="urn:microsoft.com/office/officeart/2018/2/layout/IconVerticalSolidList"/>
    <dgm:cxn modelId="{B65963E2-D997-488E-8021-AC90841F88A9}" srcId="{5DCF82F1-D687-4C72-91E1-CA175BB20948}" destId="{2364542A-BC84-4022-BA61-92F1BE2C65A3}" srcOrd="2" destOrd="0" parTransId="{DE5E8BA2-799C-4EE7-9059-876D9870111B}" sibTransId="{6D2D52E5-724A-4F17-838C-837ED3D2C0AF}"/>
    <dgm:cxn modelId="{D149B2F6-ABA8-4897-9401-30E2B7A03D54}" srcId="{5DCF82F1-D687-4C72-91E1-CA175BB20948}" destId="{4E265C52-EEEA-47E2-A291-D419BCEECBA6}" srcOrd="1" destOrd="0" parTransId="{6A7503DA-F798-46CD-9756-B0EE6BDF45F8}" sibTransId="{938BDF9B-C003-4DAD-87FA-053AD6B0ADA3}"/>
    <dgm:cxn modelId="{D10CD8AE-2C0B-40AC-9BB5-8F0EBAE11165}" type="presParOf" srcId="{2D28259C-75B3-4AE0-AB81-8E1C92631652}" destId="{E563C580-76CE-4DBB-A05A-EEE036D5B4E0}" srcOrd="0" destOrd="0" presId="urn:microsoft.com/office/officeart/2018/2/layout/IconVerticalSolidList"/>
    <dgm:cxn modelId="{FD064881-493F-46ED-A84E-39155768B541}" type="presParOf" srcId="{E563C580-76CE-4DBB-A05A-EEE036D5B4E0}" destId="{A413B4FC-5D2A-4EA3-B719-157D6BCF909B}" srcOrd="0" destOrd="0" presId="urn:microsoft.com/office/officeart/2018/2/layout/IconVerticalSolidList"/>
    <dgm:cxn modelId="{42952E5B-B9B2-463F-905F-0B49E3ADB194}" type="presParOf" srcId="{E563C580-76CE-4DBB-A05A-EEE036D5B4E0}" destId="{C4C85C08-2BE0-410B-81AD-15AEA5DBE7A7}" srcOrd="1" destOrd="0" presId="urn:microsoft.com/office/officeart/2018/2/layout/IconVerticalSolidList"/>
    <dgm:cxn modelId="{09D35A8D-AC62-4D12-8E64-193389FBCC15}" type="presParOf" srcId="{E563C580-76CE-4DBB-A05A-EEE036D5B4E0}" destId="{DAF073A6-D27D-4E28-910E-87DD823D2DD4}" srcOrd="2" destOrd="0" presId="urn:microsoft.com/office/officeart/2018/2/layout/IconVerticalSolidList"/>
    <dgm:cxn modelId="{67F88C69-5160-4033-8A07-D3C42036E543}" type="presParOf" srcId="{E563C580-76CE-4DBB-A05A-EEE036D5B4E0}" destId="{CC427F6B-A498-4300-8B37-22E341791E66}" srcOrd="3" destOrd="0" presId="urn:microsoft.com/office/officeart/2018/2/layout/IconVerticalSolidList"/>
    <dgm:cxn modelId="{C521E955-4A0B-46C1-ADD7-14EEB0A288DB}" type="presParOf" srcId="{2D28259C-75B3-4AE0-AB81-8E1C92631652}" destId="{97F36E46-F7F9-49DA-8131-7D6C0DA345B4}" srcOrd="1" destOrd="0" presId="urn:microsoft.com/office/officeart/2018/2/layout/IconVerticalSolidList"/>
    <dgm:cxn modelId="{8683301B-1945-4F75-A97D-49524D4E4F04}" type="presParOf" srcId="{2D28259C-75B3-4AE0-AB81-8E1C92631652}" destId="{94B27483-2F0A-49AC-B9E6-38660E78C7D2}" srcOrd="2" destOrd="0" presId="urn:microsoft.com/office/officeart/2018/2/layout/IconVerticalSolidList"/>
    <dgm:cxn modelId="{7FDC5A40-A9C3-450F-B50B-F4AC74E6BADE}" type="presParOf" srcId="{94B27483-2F0A-49AC-B9E6-38660E78C7D2}" destId="{08421010-BEFE-46D2-86D3-900BC2F01F38}" srcOrd="0" destOrd="0" presId="urn:microsoft.com/office/officeart/2018/2/layout/IconVerticalSolidList"/>
    <dgm:cxn modelId="{E669B05A-B4CC-4D87-AEE2-1998D57EA486}" type="presParOf" srcId="{94B27483-2F0A-49AC-B9E6-38660E78C7D2}" destId="{D1744A23-F599-4133-AA03-0DFA9EA4F2BA}" srcOrd="1" destOrd="0" presId="urn:microsoft.com/office/officeart/2018/2/layout/IconVerticalSolidList"/>
    <dgm:cxn modelId="{B3AF81E2-C1BB-4C1D-BAA2-457603BB2155}" type="presParOf" srcId="{94B27483-2F0A-49AC-B9E6-38660E78C7D2}" destId="{B7C0DDD2-F3E2-4A18-9BAB-B3E208251C18}" srcOrd="2" destOrd="0" presId="urn:microsoft.com/office/officeart/2018/2/layout/IconVerticalSolidList"/>
    <dgm:cxn modelId="{7C7F26A8-0E5F-4CE3-B3F6-172C9A137BBB}" type="presParOf" srcId="{94B27483-2F0A-49AC-B9E6-38660E78C7D2}" destId="{F26C3C71-5F35-4E92-8D99-E508B3F58BF1}" srcOrd="3" destOrd="0" presId="urn:microsoft.com/office/officeart/2018/2/layout/IconVerticalSolidList"/>
    <dgm:cxn modelId="{A50BAA49-8E67-49FA-9527-B3B202A9D9C7}" type="presParOf" srcId="{2D28259C-75B3-4AE0-AB81-8E1C92631652}" destId="{75DF5FE3-7A3E-4FD1-AC9B-110E3F6DF391}" srcOrd="3" destOrd="0" presId="urn:microsoft.com/office/officeart/2018/2/layout/IconVerticalSolidList"/>
    <dgm:cxn modelId="{2030DD03-5384-471C-A721-1A71DD2B3062}" type="presParOf" srcId="{2D28259C-75B3-4AE0-AB81-8E1C92631652}" destId="{18480FBD-6288-4D87-ACA8-79B232C94402}" srcOrd="4" destOrd="0" presId="urn:microsoft.com/office/officeart/2018/2/layout/IconVerticalSolidList"/>
    <dgm:cxn modelId="{115A5E85-3858-45D8-8ABF-F6AB33415D85}" type="presParOf" srcId="{18480FBD-6288-4D87-ACA8-79B232C94402}" destId="{1A9B98B9-0F03-463B-9E80-69C58A80E058}" srcOrd="0" destOrd="0" presId="urn:microsoft.com/office/officeart/2018/2/layout/IconVerticalSolidList"/>
    <dgm:cxn modelId="{045299DE-8B0D-42CD-9DC2-B2DBE933F7A0}" type="presParOf" srcId="{18480FBD-6288-4D87-ACA8-79B232C94402}" destId="{F4CA2AC4-4D27-473C-AAE4-8A3B92884E86}" srcOrd="1" destOrd="0" presId="urn:microsoft.com/office/officeart/2018/2/layout/IconVerticalSolidList"/>
    <dgm:cxn modelId="{45185B6E-9489-4CE7-A61B-1EBF558DA7F1}" type="presParOf" srcId="{18480FBD-6288-4D87-ACA8-79B232C94402}" destId="{0A122BA9-668B-43B0-BAC4-FA22944BA035}" srcOrd="2" destOrd="0" presId="urn:microsoft.com/office/officeart/2018/2/layout/IconVerticalSolidList"/>
    <dgm:cxn modelId="{AD3A7C17-AD7A-4165-9ACE-677434A5379A}" type="presParOf" srcId="{18480FBD-6288-4D87-ACA8-79B232C94402}" destId="{0B0437AE-C009-49CE-A919-B125437581BF}" srcOrd="3" destOrd="0" presId="urn:microsoft.com/office/officeart/2018/2/layout/IconVerticalSolidList"/>
    <dgm:cxn modelId="{DA5A580B-222B-45D5-8A20-D5FDC2145F97}" type="presParOf" srcId="{2D28259C-75B3-4AE0-AB81-8E1C92631652}" destId="{5B8EFC73-9A46-468E-8592-DEFFEA8AA48C}" srcOrd="5" destOrd="0" presId="urn:microsoft.com/office/officeart/2018/2/layout/IconVerticalSolidList"/>
    <dgm:cxn modelId="{8ACA7193-4A36-4332-8506-7EF42580B0F8}" type="presParOf" srcId="{2D28259C-75B3-4AE0-AB81-8E1C92631652}" destId="{6F8843F4-B2C9-4835-ACAE-E4B36CF33EEA}" srcOrd="6" destOrd="0" presId="urn:microsoft.com/office/officeart/2018/2/layout/IconVerticalSolidList"/>
    <dgm:cxn modelId="{B448D7BB-7ED6-47C5-9F6F-8FC9F251C397}" type="presParOf" srcId="{6F8843F4-B2C9-4835-ACAE-E4B36CF33EEA}" destId="{D79B7091-7751-4FA0-B18D-7DFE0C977924}" srcOrd="0" destOrd="0" presId="urn:microsoft.com/office/officeart/2018/2/layout/IconVerticalSolidList"/>
    <dgm:cxn modelId="{DF01BFB7-2F1B-4A23-A786-6BDE9C2D1181}" type="presParOf" srcId="{6F8843F4-B2C9-4835-ACAE-E4B36CF33EEA}" destId="{9253BA37-58B6-40F3-8CE9-AF64FB9794E7}" srcOrd="1" destOrd="0" presId="urn:microsoft.com/office/officeart/2018/2/layout/IconVerticalSolidList"/>
    <dgm:cxn modelId="{6BE1627D-C88F-4361-BF44-4AAD5BC69D3A}" type="presParOf" srcId="{6F8843F4-B2C9-4835-ACAE-E4B36CF33EEA}" destId="{41FC6B1C-EEBA-421E-B71D-B828B93A63BE}" srcOrd="2" destOrd="0" presId="urn:microsoft.com/office/officeart/2018/2/layout/IconVerticalSolidList"/>
    <dgm:cxn modelId="{FEA4FC3F-3170-42CC-AA10-3DB7A1C2F172}" type="presParOf" srcId="{6F8843F4-B2C9-4835-ACAE-E4B36CF33EEA}" destId="{0F189A86-5536-48C3-A947-E08AC96B981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405C4F-42B1-4A60-AFD7-D50C2FECF83B}" type="doc">
      <dgm:prSet loTypeId="urn:microsoft.com/office/officeart/2018/2/layout/IconVerticalSolidList" loCatId="icon" qsTypeId="urn:microsoft.com/office/officeart/2005/8/quickstyle/simple5" qsCatId="simple" csTypeId="urn:microsoft.com/office/officeart/2005/8/colors/colorful2" csCatId="colorful" phldr="1"/>
      <dgm:spPr/>
      <dgm:t>
        <a:bodyPr/>
        <a:lstStyle/>
        <a:p>
          <a:endParaRPr lang="en-US"/>
        </a:p>
      </dgm:t>
    </dgm:pt>
    <dgm:pt modelId="{23A6954A-F08C-4B69-A511-49490A207279}">
      <dgm:prSet custT="1"/>
      <dgm:spPr/>
      <dgm:t>
        <a:bodyPr/>
        <a:lstStyle/>
        <a:p>
          <a:pPr>
            <a:lnSpc>
              <a:spcPct val="100000"/>
            </a:lnSpc>
          </a:pPr>
          <a:r>
            <a:rPr lang="en-US" sz="2400" b="0" dirty="0">
              <a:latin typeface="Constantia" panose="02030602050306030303" pitchFamily="18" charset="0"/>
            </a:rPr>
            <a:t>Welcome to the Zomato Data Analytics Project, where we explore key metrics of one of the world’s top food delivery platforms.</a:t>
          </a:r>
        </a:p>
      </dgm:t>
    </dgm:pt>
    <dgm:pt modelId="{6A561ABF-0A1C-4F94-BAC2-AC7BA3A0759F}" type="parTrans" cxnId="{9B9F116A-6E99-4488-BEFC-39C834F6DF93}">
      <dgm:prSet/>
      <dgm:spPr/>
      <dgm:t>
        <a:bodyPr/>
        <a:lstStyle/>
        <a:p>
          <a:endParaRPr lang="en-US"/>
        </a:p>
      </dgm:t>
    </dgm:pt>
    <dgm:pt modelId="{E43CCB42-7DC6-4757-9E62-F078B97A5D30}" type="sibTrans" cxnId="{9B9F116A-6E99-4488-BEFC-39C834F6DF93}">
      <dgm:prSet/>
      <dgm:spPr/>
      <dgm:t>
        <a:bodyPr/>
        <a:lstStyle/>
        <a:p>
          <a:endParaRPr lang="en-US"/>
        </a:p>
      </dgm:t>
    </dgm:pt>
    <dgm:pt modelId="{6C69E7DB-AB69-4629-94AE-E6DA25553F2D}">
      <dgm:prSet custT="1"/>
      <dgm:spPr/>
      <dgm:t>
        <a:bodyPr/>
        <a:lstStyle/>
        <a:p>
          <a:pPr>
            <a:lnSpc>
              <a:spcPct val="100000"/>
            </a:lnSpc>
          </a:pPr>
          <a:r>
            <a:rPr lang="en-US" sz="2400" b="0" dirty="0">
              <a:latin typeface="Constantia" panose="02030602050306030303" pitchFamily="18" charset="0"/>
            </a:rPr>
            <a:t>This study uses Zomato restaurant data, a popular platform for finding local eateries by cuisine, cost, reviews, ratings, and votes.</a:t>
          </a:r>
        </a:p>
      </dgm:t>
    </dgm:pt>
    <dgm:pt modelId="{31570CB8-F6A7-4054-9BAA-675B1EBAEB3C}" type="parTrans" cxnId="{9ACFD8E0-8D4A-4710-A8E4-8DF5F3406890}">
      <dgm:prSet/>
      <dgm:spPr/>
      <dgm:t>
        <a:bodyPr/>
        <a:lstStyle/>
        <a:p>
          <a:endParaRPr lang="en-US"/>
        </a:p>
      </dgm:t>
    </dgm:pt>
    <dgm:pt modelId="{AC7F3F3B-E4DA-401E-A49B-74D4CC612855}" type="sibTrans" cxnId="{9ACFD8E0-8D4A-4710-A8E4-8DF5F3406890}">
      <dgm:prSet/>
      <dgm:spPr/>
      <dgm:t>
        <a:bodyPr/>
        <a:lstStyle/>
        <a:p>
          <a:endParaRPr lang="en-US"/>
        </a:p>
      </dgm:t>
    </dgm:pt>
    <dgm:pt modelId="{E7F15700-92F1-42A3-BEF4-865FD2D2C28B}">
      <dgm:prSet custT="1"/>
      <dgm:spPr/>
      <dgm:t>
        <a:bodyPr/>
        <a:lstStyle/>
        <a:p>
          <a:pPr>
            <a:lnSpc>
              <a:spcPct val="100000"/>
            </a:lnSpc>
          </a:pPr>
          <a:r>
            <a:rPr lang="en-US" sz="2400" b="0" dirty="0">
              <a:latin typeface="Constantia" panose="02030602050306030303" pitchFamily="18" charset="0"/>
            </a:rPr>
            <a:t>Zomato dataset shows restaurant ratings, votes, and costs—helping users find favorites and give reviews.</a:t>
          </a:r>
        </a:p>
      </dgm:t>
    </dgm:pt>
    <dgm:pt modelId="{20ABAD82-ED10-481A-9763-42046DDD8391}" type="parTrans" cxnId="{A3F03DB4-7EBB-42A0-B5E1-A7FBAFF0DE2B}">
      <dgm:prSet/>
      <dgm:spPr/>
      <dgm:t>
        <a:bodyPr/>
        <a:lstStyle/>
        <a:p>
          <a:endParaRPr lang="en-US"/>
        </a:p>
      </dgm:t>
    </dgm:pt>
    <dgm:pt modelId="{36BA0CFF-7233-4774-89E4-22D91876612E}" type="sibTrans" cxnId="{A3F03DB4-7EBB-42A0-B5E1-A7FBAFF0DE2B}">
      <dgm:prSet/>
      <dgm:spPr/>
      <dgm:t>
        <a:bodyPr/>
        <a:lstStyle/>
        <a:p>
          <a:endParaRPr lang="en-US"/>
        </a:p>
      </dgm:t>
    </dgm:pt>
    <dgm:pt modelId="{E7DE6FC7-382C-4A4C-B03C-A71539924E60}" type="pres">
      <dgm:prSet presAssocID="{F5405C4F-42B1-4A60-AFD7-D50C2FECF83B}" presName="root" presStyleCnt="0">
        <dgm:presLayoutVars>
          <dgm:dir/>
          <dgm:resizeHandles val="exact"/>
        </dgm:presLayoutVars>
      </dgm:prSet>
      <dgm:spPr/>
    </dgm:pt>
    <dgm:pt modelId="{1E73A8E1-2E6D-4B23-A250-9E491BE82F79}" type="pres">
      <dgm:prSet presAssocID="{23A6954A-F08C-4B69-A511-49490A207279}" presName="compNode" presStyleCnt="0"/>
      <dgm:spPr/>
    </dgm:pt>
    <dgm:pt modelId="{B2D7B75A-7BA3-4E5A-8CEF-635E436B5E1A}" type="pres">
      <dgm:prSet presAssocID="{23A6954A-F08C-4B69-A511-49490A207279}" presName="bgRect" presStyleLbl="bgShp" presStyleIdx="0" presStyleCnt="3"/>
      <dgm:spPr/>
    </dgm:pt>
    <dgm:pt modelId="{F6254D5B-6F0B-4333-B408-E5B3D872EE25}" type="pres">
      <dgm:prSet presAssocID="{23A6954A-F08C-4B69-A511-49490A20727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ie chart"/>
        </a:ext>
      </dgm:extLst>
    </dgm:pt>
    <dgm:pt modelId="{C396C50F-5B88-49DA-A2A5-2DF4D2128A03}" type="pres">
      <dgm:prSet presAssocID="{23A6954A-F08C-4B69-A511-49490A207279}" presName="spaceRect" presStyleCnt="0"/>
      <dgm:spPr/>
    </dgm:pt>
    <dgm:pt modelId="{A855483D-6E42-4B36-8121-B0B288A18125}" type="pres">
      <dgm:prSet presAssocID="{23A6954A-F08C-4B69-A511-49490A207279}" presName="parTx" presStyleLbl="revTx" presStyleIdx="0" presStyleCnt="3">
        <dgm:presLayoutVars>
          <dgm:chMax val="0"/>
          <dgm:chPref val="0"/>
        </dgm:presLayoutVars>
      </dgm:prSet>
      <dgm:spPr/>
    </dgm:pt>
    <dgm:pt modelId="{6B93750D-5AB7-4965-B11E-B0EB6E72BA71}" type="pres">
      <dgm:prSet presAssocID="{E43CCB42-7DC6-4757-9E62-F078B97A5D30}" presName="sibTrans" presStyleCnt="0"/>
      <dgm:spPr/>
    </dgm:pt>
    <dgm:pt modelId="{8E9D44B5-C70F-4542-B8D0-51B2EDE9BED4}" type="pres">
      <dgm:prSet presAssocID="{6C69E7DB-AB69-4629-94AE-E6DA25553F2D}" presName="compNode" presStyleCnt="0"/>
      <dgm:spPr/>
    </dgm:pt>
    <dgm:pt modelId="{0A3C241F-DC0D-4EE8-A66E-FAE409D44297}" type="pres">
      <dgm:prSet presAssocID="{6C69E7DB-AB69-4629-94AE-E6DA25553F2D}" presName="bgRect" presStyleLbl="bgShp" presStyleIdx="1" presStyleCnt="3" custScaleY="116488"/>
      <dgm:spPr/>
    </dgm:pt>
    <dgm:pt modelId="{DFC6DC57-DD64-4341-B969-08F370767D17}" type="pres">
      <dgm:prSet presAssocID="{6C69E7DB-AB69-4629-94AE-E6DA25553F2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vered plate"/>
        </a:ext>
      </dgm:extLst>
    </dgm:pt>
    <dgm:pt modelId="{ED44A5FA-0D4B-4707-93E7-04767D64F3E8}" type="pres">
      <dgm:prSet presAssocID="{6C69E7DB-AB69-4629-94AE-E6DA25553F2D}" presName="spaceRect" presStyleCnt="0"/>
      <dgm:spPr/>
    </dgm:pt>
    <dgm:pt modelId="{A32A1BA7-1524-465A-A6BD-75E569944F1E}" type="pres">
      <dgm:prSet presAssocID="{6C69E7DB-AB69-4629-94AE-E6DA25553F2D}" presName="parTx" presStyleLbl="revTx" presStyleIdx="1" presStyleCnt="3">
        <dgm:presLayoutVars>
          <dgm:chMax val="0"/>
          <dgm:chPref val="0"/>
        </dgm:presLayoutVars>
      </dgm:prSet>
      <dgm:spPr/>
    </dgm:pt>
    <dgm:pt modelId="{35C25026-BAB9-4F44-BDB5-D32035F6D774}" type="pres">
      <dgm:prSet presAssocID="{AC7F3F3B-E4DA-401E-A49B-74D4CC612855}" presName="sibTrans" presStyleCnt="0"/>
      <dgm:spPr/>
    </dgm:pt>
    <dgm:pt modelId="{750CB7FB-96AA-4CAD-B703-AFD4C7291B9E}" type="pres">
      <dgm:prSet presAssocID="{E7F15700-92F1-42A3-BEF4-865FD2D2C28B}" presName="compNode" presStyleCnt="0"/>
      <dgm:spPr/>
    </dgm:pt>
    <dgm:pt modelId="{90A0409D-5F67-4D22-9263-3CE21E1C6ADB}" type="pres">
      <dgm:prSet presAssocID="{E7F15700-92F1-42A3-BEF4-865FD2D2C28B}" presName="bgRect" presStyleLbl="bgShp" presStyleIdx="2" presStyleCnt="3"/>
      <dgm:spPr/>
    </dgm:pt>
    <dgm:pt modelId="{4F23AD53-C4E2-4167-A5FD-6EB6AD20549B}" type="pres">
      <dgm:prSet presAssocID="{E7F15700-92F1-42A3-BEF4-865FD2D2C28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EEA0005D-CF84-4AD5-AB2E-4E970C60DE36}" type="pres">
      <dgm:prSet presAssocID="{E7F15700-92F1-42A3-BEF4-865FD2D2C28B}" presName="spaceRect" presStyleCnt="0"/>
      <dgm:spPr/>
    </dgm:pt>
    <dgm:pt modelId="{6DE7E4EC-AAF2-4DDA-BBBE-6AF1A9A6F9CE}" type="pres">
      <dgm:prSet presAssocID="{E7F15700-92F1-42A3-BEF4-865FD2D2C28B}" presName="parTx" presStyleLbl="revTx" presStyleIdx="2" presStyleCnt="3">
        <dgm:presLayoutVars>
          <dgm:chMax val="0"/>
          <dgm:chPref val="0"/>
        </dgm:presLayoutVars>
      </dgm:prSet>
      <dgm:spPr/>
    </dgm:pt>
  </dgm:ptLst>
  <dgm:cxnLst>
    <dgm:cxn modelId="{D77BAA18-F9D6-4E0D-9B27-67F638203693}" type="presOf" srcId="{23A6954A-F08C-4B69-A511-49490A207279}" destId="{A855483D-6E42-4B36-8121-B0B288A18125}" srcOrd="0" destOrd="0" presId="urn:microsoft.com/office/officeart/2018/2/layout/IconVerticalSolidList"/>
    <dgm:cxn modelId="{EE18022F-A042-4952-B3EF-AA445EB68096}" type="presOf" srcId="{E7F15700-92F1-42A3-BEF4-865FD2D2C28B}" destId="{6DE7E4EC-AAF2-4DDA-BBBE-6AF1A9A6F9CE}" srcOrd="0" destOrd="0" presId="urn:microsoft.com/office/officeart/2018/2/layout/IconVerticalSolidList"/>
    <dgm:cxn modelId="{9B9F116A-6E99-4488-BEFC-39C834F6DF93}" srcId="{F5405C4F-42B1-4A60-AFD7-D50C2FECF83B}" destId="{23A6954A-F08C-4B69-A511-49490A207279}" srcOrd="0" destOrd="0" parTransId="{6A561ABF-0A1C-4F94-BAC2-AC7BA3A0759F}" sibTransId="{E43CCB42-7DC6-4757-9E62-F078B97A5D30}"/>
    <dgm:cxn modelId="{C0469774-379A-4FCE-9B58-752D6C204D57}" type="presOf" srcId="{F5405C4F-42B1-4A60-AFD7-D50C2FECF83B}" destId="{E7DE6FC7-382C-4A4C-B03C-A71539924E60}" srcOrd="0" destOrd="0" presId="urn:microsoft.com/office/officeart/2018/2/layout/IconVerticalSolidList"/>
    <dgm:cxn modelId="{A3F03DB4-7EBB-42A0-B5E1-A7FBAFF0DE2B}" srcId="{F5405C4F-42B1-4A60-AFD7-D50C2FECF83B}" destId="{E7F15700-92F1-42A3-BEF4-865FD2D2C28B}" srcOrd="2" destOrd="0" parTransId="{20ABAD82-ED10-481A-9763-42046DDD8391}" sibTransId="{36BA0CFF-7233-4774-89E4-22D91876612E}"/>
    <dgm:cxn modelId="{69884DCA-A971-4F88-A097-673937C0C446}" type="presOf" srcId="{6C69E7DB-AB69-4629-94AE-E6DA25553F2D}" destId="{A32A1BA7-1524-465A-A6BD-75E569944F1E}" srcOrd="0" destOrd="0" presId="urn:microsoft.com/office/officeart/2018/2/layout/IconVerticalSolidList"/>
    <dgm:cxn modelId="{9ACFD8E0-8D4A-4710-A8E4-8DF5F3406890}" srcId="{F5405C4F-42B1-4A60-AFD7-D50C2FECF83B}" destId="{6C69E7DB-AB69-4629-94AE-E6DA25553F2D}" srcOrd="1" destOrd="0" parTransId="{31570CB8-F6A7-4054-9BAA-675B1EBAEB3C}" sibTransId="{AC7F3F3B-E4DA-401E-A49B-74D4CC612855}"/>
    <dgm:cxn modelId="{23913B1A-DA45-4DC1-914A-9C66C580CE15}" type="presParOf" srcId="{E7DE6FC7-382C-4A4C-B03C-A71539924E60}" destId="{1E73A8E1-2E6D-4B23-A250-9E491BE82F79}" srcOrd="0" destOrd="0" presId="urn:microsoft.com/office/officeart/2018/2/layout/IconVerticalSolidList"/>
    <dgm:cxn modelId="{F181A3E7-375B-489D-A0E7-9FD7361710DD}" type="presParOf" srcId="{1E73A8E1-2E6D-4B23-A250-9E491BE82F79}" destId="{B2D7B75A-7BA3-4E5A-8CEF-635E436B5E1A}" srcOrd="0" destOrd="0" presId="urn:microsoft.com/office/officeart/2018/2/layout/IconVerticalSolidList"/>
    <dgm:cxn modelId="{06B62CD3-52D9-41ED-9A44-7AE103286173}" type="presParOf" srcId="{1E73A8E1-2E6D-4B23-A250-9E491BE82F79}" destId="{F6254D5B-6F0B-4333-B408-E5B3D872EE25}" srcOrd="1" destOrd="0" presId="urn:microsoft.com/office/officeart/2018/2/layout/IconVerticalSolidList"/>
    <dgm:cxn modelId="{D81D973B-D663-40BC-95A1-B109297782DB}" type="presParOf" srcId="{1E73A8E1-2E6D-4B23-A250-9E491BE82F79}" destId="{C396C50F-5B88-49DA-A2A5-2DF4D2128A03}" srcOrd="2" destOrd="0" presId="urn:microsoft.com/office/officeart/2018/2/layout/IconVerticalSolidList"/>
    <dgm:cxn modelId="{6D238F4B-520E-4F9C-8ECA-8E98CF6DCFD4}" type="presParOf" srcId="{1E73A8E1-2E6D-4B23-A250-9E491BE82F79}" destId="{A855483D-6E42-4B36-8121-B0B288A18125}" srcOrd="3" destOrd="0" presId="urn:microsoft.com/office/officeart/2018/2/layout/IconVerticalSolidList"/>
    <dgm:cxn modelId="{EB7186C8-721E-4BF3-B535-CF45534918FC}" type="presParOf" srcId="{E7DE6FC7-382C-4A4C-B03C-A71539924E60}" destId="{6B93750D-5AB7-4965-B11E-B0EB6E72BA71}" srcOrd="1" destOrd="0" presId="urn:microsoft.com/office/officeart/2018/2/layout/IconVerticalSolidList"/>
    <dgm:cxn modelId="{5705EDA8-F776-4C9D-96FB-6AF577E68DD2}" type="presParOf" srcId="{E7DE6FC7-382C-4A4C-B03C-A71539924E60}" destId="{8E9D44B5-C70F-4542-B8D0-51B2EDE9BED4}" srcOrd="2" destOrd="0" presId="urn:microsoft.com/office/officeart/2018/2/layout/IconVerticalSolidList"/>
    <dgm:cxn modelId="{987FF8C7-90FF-4347-8D4A-4B746BD9FA98}" type="presParOf" srcId="{8E9D44B5-C70F-4542-B8D0-51B2EDE9BED4}" destId="{0A3C241F-DC0D-4EE8-A66E-FAE409D44297}" srcOrd="0" destOrd="0" presId="urn:microsoft.com/office/officeart/2018/2/layout/IconVerticalSolidList"/>
    <dgm:cxn modelId="{276238C5-932B-4822-98CE-D26CBE477026}" type="presParOf" srcId="{8E9D44B5-C70F-4542-B8D0-51B2EDE9BED4}" destId="{DFC6DC57-DD64-4341-B969-08F370767D17}" srcOrd="1" destOrd="0" presId="urn:microsoft.com/office/officeart/2018/2/layout/IconVerticalSolidList"/>
    <dgm:cxn modelId="{FD53B3ED-F7B1-4CBB-B7D8-E85E5DF0C107}" type="presParOf" srcId="{8E9D44B5-C70F-4542-B8D0-51B2EDE9BED4}" destId="{ED44A5FA-0D4B-4707-93E7-04767D64F3E8}" srcOrd="2" destOrd="0" presId="urn:microsoft.com/office/officeart/2018/2/layout/IconVerticalSolidList"/>
    <dgm:cxn modelId="{5991D8C2-7E9B-491B-9D32-B30FD63F4BBD}" type="presParOf" srcId="{8E9D44B5-C70F-4542-B8D0-51B2EDE9BED4}" destId="{A32A1BA7-1524-465A-A6BD-75E569944F1E}" srcOrd="3" destOrd="0" presId="urn:microsoft.com/office/officeart/2018/2/layout/IconVerticalSolidList"/>
    <dgm:cxn modelId="{61CC8376-CCB7-4C55-9003-3020AC2262CE}" type="presParOf" srcId="{E7DE6FC7-382C-4A4C-B03C-A71539924E60}" destId="{35C25026-BAB9-4F44-BDB5-D32035F6D774}" srcOrd="3" destOrd="0" presId="urn:microsoft.com/office/officeart/2018/2/layout/IconVerticalSolidList"/>
    <dgm:cxn modelId="{E487D192-82A7-4CF5-BC6D-A71265C811CC}" type="presParOf" srcId="{E7DE6FC7-382C-4A4C-B03C-A71539924E60}" destId="{750CB7FB-96AA-4CAD-B703-AFD4C7291B9E}" srcOrd="4" destOrd="0" presId="urn:microsoft.com/office/officeart/2018/2/layout/IconVerticalSolidList"/>
    <dgm:cxn modelId="{8FEA39C4-9D86-4347-982A-A8DBAA6324C9}" type="presParOf" srcId="{750CB7FB-96AA-4CAD-B703-AFD4C7291B9E}" destId="{90A0409D-5F67-4D22-9263-3CE21E1C6ADB}" srcOrd="0" destOrd="0" presId="urn:microsoft.com/office/officeart/2018/2/layout/IconVerticalSolidList"/>
    <dgm:cxn modelId="{EBE4FFA7-1294-4D62-AD89-922B7AA02212}" type="presParOf" srcId="{750CB7FB-96AA-4CAD-B703-AFD4C7291B9E}" destId="{4F23AD53-C4E2-4167-A5FD-6EB6AD20549B}" srcOrd="1" destOrd="0" presId="urn:microsoft.com/office/officeart/2018/2/layout/IconVerticalSolidList"/>
    <dgm:cxn modelId="{CB7F2CAF-D52D-442C-8EBE-E296AABB7F19}" type="presParOf" srcId="{750CB7FB-96AA-4CAD-B703-AFD4C7291B9E}" destId="{EEA0005D-CF84-4AD5-AB2E-4E970C60DE36}" srcOrd="2" destOrd="0" presId="urn:microsoft.com/office/officeart/2018/2/layout/IconVerticalSolidList"/>
    <dgm:cxn modelId="{A0955296-A84D-40F5-A5B4-CFFE2AE2C556}" type="presParOf" srcId="{750CB7FB-96AA-4CAD-B703-AFD4C7291B9E}" destId="{6DE7E4EC-AAF2-4DDA-BBBE-6AF1A9A6F9C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13B4FC-5D2A-4EA3-B719-157D6BCF909B}">
      <dsp:nvSpPr>
        <dsp:cNvPr id="0" name=""/>
        <dsp:cNvSpPr/>
      </dsp:nvSpPr>
      <dsp:spPr>
        <a:xfrm>
          <a:off x="0" y="1310"/>
          <a:ext cx="8596668" cy="66442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C85C08-2BE0-410B-81AD-15AEA5DBE7A7}">
      <dsp:nvSpPr>
        <dsp:cNvPr id="0" name=""/>
        <dsp:cNvSpPr/>
      </dsp:nvSpPr>
      <dsp:spPr>
        <a:xfrm>
          <a:off x="200989" y="150807"/>
          <a:ext cx="365436" cy="3654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427F6B-A498-4300-8B37-22E341791E66}">
      <dsp:nvSpPr>
        <dsp:cNvPr id="0" name=""/>
        <dsp:cNvSpPr/>
      </dsp:nvSpPr>
      <dsp:spPr>
        <a:xfrm>
          <a:off x="767416" y="1310"/>
          <a:ext cx="7829251" cy="664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9" tIns="70319" rIns="70319" bIns="70319" numCol="1" spcCol="1270" anchor="ctr" anchorCtr="0">
          <a:noAutofit/>
        </a:bodyPr>
        <a:lstStyle/>
        <a:p>
          <a:pPr marL="0" lvl="0" indent="0" algn="l" defTabSz="977900">
            <a:lnSpc>
              <a:spcPct val="100000"/>
            </a:lnSpc>
            <a:spcBef>
              <a:spcPct val="0"/>
            </a:spcBef>
            <a:spcAft>
              <a:spcPct val="35000"/>
            </a:spcAft>
            <a:buNone/>
          </a:pPr>
          <a:r>
            <a:rPr lang="en-US" sz="2200" b="1" kern="1200" dirty="0">
              <a:latin typeface="Constantia" panose="02030602050306030303" pitchFamily="18" charset="0"/>
            </a:rPr>
            <a:t>INTRODUCTION</a:t>
          </a:r>
          <a:endParaRPr lang="en-US" sz="2200" kern="1200" dirty="0">
            <a:latin typeface="Constantia" panose="02030602050306030303" pitchFamily="18" charset="0"/>
          </a:endParaRPr>
        </a:p>
      </dsp:txBody>
      <dsp:txXfrm>
        <a:off x="767416" y="1310"/>
        <a:ext cx="7829251" cy="664429"/>
      </dsp:txXfrm>
    </dsp:sp>
    <dsp:sp modelId="{08421010-BEFE-46D2-86D3-900BC2F01F38}">
      <dsp:nvSpPr>
        <dsp:cNvPr id="0" name=""/>
        <dsp:cNvSpPr/>
      </dsp:nvSpPr>
      <dsp:spPr>
        <a:xfrm>
          <a:off x="0" y="831848"/>
          <a:ext cx="8596668" cy="66442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744A23-F599-4133-AA03-0DFA9EA4F2BA}">
      <dsp:nvSpPr>
        <dsp:cNvPr id="0" name=""/>
        <dsp:cNvSpPr/>
      </dsp:nvSpPr>
      <dsp:spPr>
        <a:xfrm>
          <a:off x="200989" y="981344"/>
          <a:ext cx="365436" cy="3654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6C3C71-5F35-4E92-8D99-E508B3F58BF1}">
      <dsp:nvSpPr>
        <dsp:cNvPr id="0" name=""/>
        <dsp:cNvSpPr/>
      </dsp:nvSpPr>
      <dsp:spPr>
        <a:xfrm>
          <a:off x="767416" y="831848"/>
          <a:ext cx="7829251" cy="664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9" tIns="70319" rIns="70319" bIns="70319" numCol="1" spcCol="1270" anchor="ctr" anchorCtr="0">
          <a:noAutofit/>
        </a:bodyPr>
        <a:lstStyle/>
        <a:p>
          <a:pPr marL="0" lvl="0" indent="0" algn="l" defTabSz="977900">
            <a:lnSpc>
              <a:spcPct val="100000"/>
            </a:lnSpc>
            <a:spcBef>
              <a:spcPct val="0"/>
            </a:spcBef>
            <a:spcAft>
              <a:spcPct val="35000"/>
            </a:spcAft>
            <a:buNone/>
          </a:pPr>
          <a:r>
            <a:rPr lang="en-US" sz="2200" b="1" kern="1200" dirty="0">
              <a:latin typeface="Constantia" panose="02030602050306030303" pitchFamily="18" charset="0"/>
            </a:rPr>
            <a:t>DATA OVERVIEW</a:t>
          </a:r>
          <a:endParaRPr lang="en-US" sz="2200" kern="1200" dirty="0">
            <a:latin typeface="Constantia" panose="02030602050306030303" pitchFamily="18" charset="0"/>
          </a:endParaRPr>
        </a:p>
      </dsp:txBody>
      <dsp:txXfrm>
        <a:off x="767416" y="831848"/>
        <a:ext cx="7829251" cy="664429"/>
      </dsp:txXfrm>
    </dsp:sp>
    <dsp:sp modelId="{1A9B98B9-0F03-463B-9E80-69C58A80E058}">
      <dsp:nvSpPr>
        <dsp:cNvPr id="0" name=""/>
        <dsp:cNvSpPr/>
      </dsp:nvSpPr>
      <dsp:spPr>
        <a:xfrm>
          <a:off x="0" y="1662385"/>
          <a:ext cx="8596668" cy="66442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CA2AC4-4D27-473C-AAE4-8A3B92884E86}">
      <dsp:nvSpPr>
        <dsp:cNvPr id="0" name=""/>
        <dsp:cNvSpPr/>
      </dsp:nvSpPr>
      <dsp:spPr>
        <a:xfrm>
          <a:off x="200989" y="1811881"/>
          <a:ext cx="365436" cy="3654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0437AE-C009-49CE-A919-B125437581BF}">
      <dsp:nvSpPr>
        <dsp:cNvPr id="0" name=""/>
        <dsp:cNvSpPr/>
      </dsp:nvSpPr>
      <dsp:spPr>
        <a:xfrm>
          <a:off x="767416" y="1662385"/>
          <a:ext cx="7829251" cy="664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9" tIns="70319" rIns="70319" bIns="70319" numCol="1" spcCol="1270" anchor="ctr" anchorCtr="0">
          <a:noAutofit/>
        </a:bodyPr>
        <a:lstStyle/>
        <a:p>
          <a:pPr marL="0" lvl="0" indent="0" algn="l" defTabSz="977900">
            <a:lnSpc>
              <a:spcPct val="100000"/>
            </a:lnSpc>
            <a:spcBef>
              <a:spcPct val="0"/>
            </a:spcBef>
            <a:spcAft>
              <a:spcPct val="35000"/>
            </a:spcAft>
            <a:buNone/>
          </a:pPr>
          <a:r>
            <a:rPr lang="en-US" sz="2200" b="1" kern="1200" dirty="0">
              <a:latin typeface="Constantia" panose="02030602050306030303" pitchFamily="18" charset="0"/>
            </a:rPr>
            <a:t>KPIs &amp; ANALYSIS</a:t>
          </a:r>
          <a:endParaRPr lang="en-US" sz="2200" kern="1200" dirty="0">
            <a:latin typeface="Constantia" panose="02030602050306030303" pitchFamily="18" charset="0"/>
          </a:endParaRPr>
        </a:p>
      </dsp:txBody>
      <dsp:txXfrm>
        <a:off x="767416" y="1662385"/>
        <a:ext cx="7829251" cy="664429"/>
      </dsp:txXfrm>
    </dsp:sp>
    <dsp:sp modelId="{D79B7091-7751-4FA0-B18D-7DFE0C977924}">
      <dsp:nvSpPr>
        <dsp:cNvPr id="0" name=""/>
        <dsp:cNvSpPr/>
      </dsp:nvSpPr>
      <dsp:spPr>
        <a:xfrm>
          <a:off x="0" y="2492922"/>
          <a:ext cx="8596668" cy="66442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53BA37-58B6-40F3-8CE9-AF64FB9794E7}">
      <dsp:nvSpPr>
        <dsp:cNvPr id="0" name=""/>
        <dsp:cNvSpPr/>
      </dsp:nvSpPr>
      <dsp:spPr>
        <a:xfrm>
          <a:off x="200989" y="2642419"/>
          <a:ext cx="365436" cy="36543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189A86-5536-48C3-A947-E08AC96B9812}">
      <dsp:nvSpPr>
        <dsp:cNvPr id="0" name=""/>
        <dsp:cNvSpPr/>
      </dsp:nvSpPr>
      <dsp:spPr>
        <a:xfrm>
          <a:off x="767416" y="2492922"/>
          <a:ext cx="7829251" cy="664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9" tIns="70319" rIns="70319" bIns="70319" numCol="1" spcCol="1270" anchor="ctr" anchorCtr="0">
          <a:noAutofit/>
        </a:bodyPr>
        <a:lstStyle/>
        <a:p>
          <a:pPr marL="0" lvl="0" indent="0" algn="l" defTabSz="977900">
            <a:lnSpc>
              <a:spcPct val="100000"/>
            </a:lnSpc>
            <a:spcBef>
              <a:spcPct val="0"/>
            </a:spcBef>
            <a:spcAft>
              <a:spcPct val="35000"/>
            </a:spcAft>
            <a:buNone/>
          </a:pPr>
          <a:r>
            <a:rPr lang="en-US" sz="2200" b="1" kern="1200" dirty="0">
              <a:latin typeface="Constantia" panose="02030602050306030303" pitchFamily="18" charset="0"/>
            </a:rPr>
            <a:t>DASHBOARD</a:t>
          </a:r>
        </a:p>
      </dsp:txBody>
      <dsp:txXfrm>
        <a:off x="767416" y="2492922"/>
        <a:ext cx="7829251" cy="6644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D7B75A-7BA3-4E5A-8CEF-635E436B5E1A}">
      <dsp:nvSpPr>
        <dsp:cNvPr id="0" name=""/>
        <dsp:cNvSpPr/>
      </dsp:nvSpPr>
      <dsp:spPr>
        <a:xfrm>
          <a:off x="0" y="873"/>
          <a:ext cx="10692784" cy="122249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F6254D5B-6F0B-4333-B408-E5B3D872EE25}">
      <dsp:nvSpPr>
        <dsp:cNvPr id="0" name=""/>
        <dsp:cNvSpPr/>
      </dsp:nvSpPr>
      <dsp:spPr>
        <a:xfrm>
          <a:off x="369805" y="275935"/>
          <a:ext cx="672374" cy="67237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dsp:spPr>
      <dsp:style>
        <a:lnRef idx="0">
          <a:scrgbClr r="0" g="0" b="0"/>
        </a:lnRef>
        <a:fillRef idx="3">
          <a:scrgbClr r="0" g="0" b="0"/>
        </a:fillRef>
        <a:effectRef idx="3">
          <a:scrgbClr r="0" g="0" b="0"/>
        </a:effectRef>
        <a:fontRef idx="minor">
          <a:schemeClr val="lt1"/>
        </a:fontRef>
      </dsp:style>
    </dsp:sp>
    <dsp:sp modelId="{A855483D-6E42-4B36-8121-B0B288A18125}">
      <dsp:nvSpPr>
        <dsp:cNvPr id="0" name=""/>
        <dsp:cNvSpPr/>
      </dsp:nvSpPr>
      <dsp:spPr>
        <a:xfrm>
          <a:off x="1411986" y="873"/>
          <a:ext cx="9280797" cy="12224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381" tIns="129381" rIns="129381" bIns="129381" numCol="1" spcCol="1270" anchor="ctr" anchorCtr="0">
          <a:noAutofit/>
        </a:bodyPr>
        <a:lstStyle/>
        <a:p>
          <a:pPr marL="0" lvl="0" indent="0" algn="l" defTabSz="1066800">
            <a:lnSpc>
              <a:spcPct val="100000"/>
            </a:lnSpc>
            <a:spcBef>
              <a:spcPct val="0"/>
            </a:spcBef>
            <a:spcAft>
              <a:spcPct val="35000"/>
            </a:spcAft>
            <a:buNone/>
          </a:pPr>
          <a:r>
            <a:rPr lang="en-US" sz="2400" b="0" kern="1200" dirty="0">
              <a:latin typeface="Constantia" panose="02030602050306030303" pitchFamily="18" charset="0"/>
            </a:rPr>
            <a:t>Welcome to the Zomato Data Analytics Project, where we explore key metrics of one of the world’s top food delivery platforms.</a:t>
          </a:r>
        </a:p>
      </dsp:txBody>
      <dsp:txXfrm>
        <a:off x="1411986" y="873"/>
        <a:ext cx="9280797" cy="1222498"/>
      </dsp:txXfrm>
    </dsp:sp>
    <dsp:sp modelId="{0A3C241F-DC0D-4EE8-A66E-FAE409D44297}">
      <dsp:nvSpPr>
        <dsp:cNvPr id="0" name=""/>
        <dsp:cNvSpPr/>
      </dsp:nvSpPr>
      <dsp:spPr>
        <a:xfrm>
          <a:off x="0" y="1528996"/>
          <a:ext cx="10692784" cy="142406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DFC6DC57-DD64-4341-B969-08F370767D17}">
      <dsp:nvSpPr>
        <dsp:cNvPr id="0" name=""/>
        <dsp:cNvSpPr/>
      </dsp:nvSpPr>
      <dsp:spPr>
        <a:xfrm>
          <a:off x="369805" y="1904841"/>
          <a:ext cx="672374" cy="67237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dsp:spPr>
      <dsp:style>
        <a:lnRef idx="0">
          <a:scrgbClr r="0" g="0" b="0"/>
        </a:lnRef>
        <a:fillRef idx="3">
          <a:scrgbClr r="0" g="0" b="0"/>
        </a:fillRef>
        <a:effectRef idx="3">
          <a:scrgbClr r="0" g="0" b="0"/>
        </a:effectRef>
        <a:fontRef idx="minor">
          <a:schemeClr val="lt1"/>
        </a:fontRef>
      </dsp:style>
    </dsp:sp>
    <dsp:sp modelId="{A32A1BA7-1524-465A-A6BD-75E569944F1E}">
      <dsp:nvSpPr>
        <dsp:cNvPr id="0" name=""/>
        <dsp:cNvSpPr/>
      </dsp:nvSpPr>
      <dsp:spPr>
        <a:xfrm>
          <a:off x="1411986" y="1629779"/>
          <a:ext cx="9280797" cy="12224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381" tIns="129381" rIns="129381" bIns="129381" numCol="1" spcCol="1270" anchor="ctr" anchorCtr="0">
          <a:noAutofit/>
        </a:bodyPr>
        <a:lstStyle/>
        <a:p>
          <a:pPr marL="0" lvl="0" indent="0" algn="l" defTabSz="1066800">
            <a:lnSpc>
              <a:spcPct val="100000"/>
            </a:lnSpc>
            <a:spcBef>
              <a:spcPct val="0"/>
            </a:spcBef>
            <a:spcAft>
              <a:spcPct val="35000"/>
            </a:spcAft>
            <a:buNone/>
          </a:pPr>
          <a:r>
            <a:rPr lang="en-US" sz="2400" b="0" kern="1200" dirty="0">
              <a:latin typeface="Constantia" panose="02030602050306030303" pitchFamily="18" charset="0"/>
            </a:rPr>
            <a:t>This study uses Zomato restaurant data, a popular platform for finding local eateries by cuisine, cost, reviews, ratings, and votes.</a:t>
          </a:r>
        </a:p>
      </dsp:txBody>
      <dsp:txXfrm>
        <a:off x="1411986" y="1629779"/>
        <a:ext cx="9280797" cy="1222498"/>
      </dsp:txXfrm>
    </dsp:sp>
    <dsp:sp modelId="{90A0409D-5F67-4D22-9263-3CE21E1C6ADB}">
      <dsp:nvSpPr>
        <dsp:cNvPr id="0" name=""/>
        <dsp:cNvSpPr/>
      </dsp:nvSpPr>
      <dsp:spPr>
        <a:xfrm>
          <a:off x="0" y="3258685"/>
          <a:ext cx="10692784" cy="122249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4F23AD53-C4E2-4167-A5FD-6EB6AD20549B}">
      <dsp:nvSpPr>
        <dsp:cNvPr id="0" name=""/>
        <dsp:cNvSpPr/>
      </dsp:nvSpPr>
      <dsp:spPr>
        <a:xfrm>
          <a:off x="369805" y="3533748"/>
          <a:ext cx="672374" cy="67237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dsp:spPr>
      <dsp:style>
        <a:lnRef idx="0">
          <a:scrgbClr r="0" g="0" b="0"/>
        </a:lnRef>
        <a:fillRef idx="3">
          <a:scrgbClr r="0" g="0" b="0"/>
        </a:fillRef>
        <a:effectRef idx="3">
          <a:scrgbClr r="0" g="0" b="0"/>
        </a:effectRef>
        <a:fontRef idx="minor">
          <a:schemeClr val="lt1"/>
        </a:fontRef>
      </dsp:style>
    </dsp:sp>
    <dsp:sp modelId="{6DE7E4EC-AAF2-4DDA-BBBE-6AF1A9A6F9CE}">
      <dsp:nvSpPr>
        <dsp:cNvPr id="0" name=""/>
        <dsp:cNvSpPr/>
      </dsp:nvSpPr>
      <dsp:spPr>
        <a:xfrm>
          <a:off x="1411986" y="3258685"/>
          <a:ext cx="9280797" cy="12224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381" tIns="129381" rIns="129381" bIns="129381" numCol="1" spcCol="1270" anchor="ctr" anchorCtr="0">
          <a:noAutofit/>
        </a:bodyPr>
        <a:lstStyle/>
        <a:p>
          <a:pPr marL="0" lvl="0" indent="0" algn="l" defTabSz="1066800">
            <a:lnSpc>
              <a:spcPct val="100000"/>
            </a:lnSpc>
            <a:spcBef>
              <a:spcPct val="0"/>
            </a:spcBef>
            <a:spcAft>
              <a:spcPct val="35000"/>
            </a:spcAft>
            <a:buNone/>
          </a:pPr>
          <a:r>
            <a:rPr lang="en-US" sz="2400" b="0" kern="1200" dirty="0">
              <a:latin typeface="Constantia" panose="02030602050306030303" pitchFamily="18" charset="0"/>
            </a:rPr>
            <a:t>Zomato dataset shows restaurant ratings, votes, and costs—helping users find favorites and give reviews.</a:t>
          </a:r>
        </a:p>
      </dsp:txBody>
      <dsp:txXfrm>
        <a:off x="1411986" y="3258685"/>
        <a:ext cx="9280797" cy="122249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8211A02-F012-23BD-1C49-9DF8E4DC09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dirty="0"/>
              <a:t>ZOMATO DATA ANALYTICS PROJECT  </a:t>
            </a:r>
          </a:p>
        </p:txBody>
      </p:sp>
      <p:sp>
        <p:nvSpPr>
          <p:cNvPr id="3" name="Date Placeholder 2">
            <a:extLst>
              <a:ext uri="{FF2B5EF4-FFF2-40B4-BE49-F238E27FC236}">
                <a16:creationId xmlns:a16="http://schemas.microsoft.com/office/drawing/2014/main" id="{CC47A4CB-E180-740E-8741-1408C5E45F9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A5455B-0D39-4372-9B0F-029D652484B1}" type="datetimeFigureOut">
              <a:rPr lang="en-IN" smtClean="0"/>
              <a:t>07-01-2026</a:t>
            </a:fld>
            <a:endParaRPr lang="en-IN" dirty="0"/>
          </a:p>
        </p:txBody>
      </p:sp>
      <p:sp>
        <p:nvSpPr>
          <p:cNvPr id="4" name="Footer Placeholder 3">
            <a:extLst>
              <a:ext uri="{FF2B5EF4-FFF2-40B4-BE49-F238E27FC236}">
                <a16:creationId xmlns:a16="http://schemas.microsoft.com/office/drawing/2014/main" id="{E9F43B88-3357-5E43-8A94-DC0D624BC32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a:extLst>
              <a:ext uri="{FF2B5EF4-FFF2-40B4-BE49-F238E27FC236}">
                <a16:creationId xmlns:a16="http://schemas.microsoft.com/office/drawing/2014/main" id="{D2BD657E-B0EA-64EA-1D3C-E29C518FF2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338CA3-14E4-4214-BF09-D39515505B77}" type="slidenum">
              <a:rPr lang="en-IN" smtClean="0"/>
              <a:t>‹#›</a:t>
            </a:fld>
            <a:endParaRPr lang="en-IN" dirty="0"/>
          </a:p>
        </p:txBody>
      </p:sp>
    </p:spTree>
    <p:extLst>
      <p:ext uri="{BB962C8B-B14F-4D97-AF65-F5344CB8AC3E}">
        <p14:creationId xmlns:p14="http://schemas.microsoft.com/office/powerpoint/2010/main" val="339121532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dirty="0"/>
              <a:t>ZOMATO DATA ANALYTICS PROJECT  </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24AC6D-E14E-43A9-9E58-D099F8085EFD}" type="datetimeFigureOut">
              <a:rPr lang="en-IN" smtClean="0"/>
              <a:t>07-01-2026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F0A27A-36D8-4B32-8AA4-29485A79697E}" type="slidenum">
              <a:rPr lang="en-IN" smtClean="0"/>
              <a:t>‹#›</a:t>
            </a:fld>
            <a:endParaRPr lang="en-IN" dirty="0"/>
          </a:p>
        </p:txBody>
      </p:sp>
    </p:spTree>
    <p:extLst>
      <p:ext uri="{BB962C8B-B14F-4D97-AF65-F5344CB8AC3E}">
        <p14:creationId xmlns:p14="http://schemas.microsoft.com/office/powerpoint/2010/main" val="2618086130"/>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F0A27A-36D8-4B32-8AA4-29485A79697E}" type="slidenum">
              <a:rPr lang="en-IN" smtClean="0"/>
              <a:t>2</a:t>
            </a:fld>
            <a:endParaRPr lang="en-IN"/>
          </a:p>
        </p:txBody>
      </p:sp>
      <p:sp>
        <p:nvSpPr>
          <p:cNvPr id="5" name="Header Placeholder 4">
            <a:extLst>
              <a:ext uri="{FF2B5EF4-FFF2-40B4-BE49-F238E27FC236}">
                <a16:creationId xmlns:a16="http://schemas.microsoft.com/office/drawing/2014/main" id="{BD83B708-B2AC-82CE-B79C-B0248A3A6F92}"/>
              </a:ext>
            </a:extLst>
          </p:cNvPr>
          <p:cNvSpPr>
            <a:spLocks noGrp="1"/>
          </p:cNvSpPr>
          <p:nvPr>
            <p:ph type="hdr" sz="quarter"/>
          </p:nvPr>
        </p:nvSpPr>
        <p:spPr/>
        <p:txBody>
          <a:bodyPr/>
          <a:lstStyle/>
          <a:p>
            <a:r>
              <a:rPr lang="en-IN"/>
              <a:t>ZOMATO DATA ANALYTICS PROJECT  </a:t>
            </a:r>
          </a:p>
        </p:txBody>
      </p:sp>
    </p:spTree>
    <p:extLst>
      <p:ext uri="{BB962C8B-B14F-4D97-AF65-F5344CB8AC3E}">
        <p14:creationId xmlns:p14="http://schemas.microsoft.com/office/powerpoint/2010/main" val="4147873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9656037-31D1-44DA-96BC-566CD0A404D5}" type="datetimeFigureOut">
              <a:rPr lang="en-IN" smtClean="0"/>
              <a:t>07-01-2026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EF082095-BF1B-4008-BCEE-BC06904C763A}" type="slidenum">
              <a:rPr lang="en-IN" smtClean="0"/>
              <a:t>‹#›</a:t>
            </a:fld>
            <a:endParaRPr lang="en-IN" dirty="0"/>
          </a:p>
        </p:txBody>
      </p:sp>
    </p:spTree>
    <p:extLst>
      <p:ext uri="{BB962C8B-B14F-4D97-AF65-F5344CB8AC3E}">
        <p14:creationId xmlns:p14="http://schemas.microsoft.com/office/powerpoint/2010/main" val="3652101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656037-31D1-44DA-96BC-566CD0A404D5}" type="datetimeFigureOut">
              <a:rPr lang="en-IN" smtClean="0"/>
              <a:t>07-01-2026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EF082095-BF1B-4008-BCEE-BC06904C763A}" type="slidenum">
              <a:rPr lang="en-IN" smtClean="0"/>
              <a:t>‹#›</a:t>
            </a:fld>
            <a:endParaRPr lang="en-IN" dirty="0"/>
          </a:p>
        </p:txBody>
      </p:sp>
    </p:spTree>
    <p:extLst>
      <p:ext uri="{BB962C8B-B14F-4D97-AF65-F5344CB8AC3E}">
        <p14:creationId xmlns:p14="http://schemas.microsoft.com/office/powerpoint/2010/main" val="4168604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C9656037-31D1-44DA-96BC-566CD0A404D5}" type="datetimeFigureOut">
              <a:rPr lang="en-IN" smtClean="0"/>
              <a:t>07-01-2026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EF082095-BF1B-4008-BCEE-BC06904C763A}" type="slidenum">
              <a:rPr lang="en-IN" smtClean="0"/>
              <a:t>‹#›</a:t>
            </a:fld>
            <a:endParaRPr lang="en-IN" dirty="0"/>
          </a:p>
        </p:txBody>
      </p:sp>
    </p:spTree>
    <p:extLst>
      <p:ext uri="{BB962C8B-B14F-4D97-AF65-F5344CB8AC3E}">
        <p14:creationId xmlns:p14="http://schemas.microsoft.com/office/powerpoint/2010/main" val="2410779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C9656037-31D1-44DA-96BC-566CD0A404D5}" type="datetimeFigureOut">
              <a:rPr lang="en-IN" smtClean="0"/>
              <a:t>07-01-2026</a:t>
            </a:fld>
            <a:endParaRPr lang="en-IN" dirty="0"/>
          </a:p>
        </p:txBody>
      </p:sp>
      <p:sp>
        <p:nvSpPr>
          <p:cNvPr id="9" name="Footer Placeholder 8"/>
          <p:cNvSpPr>
            <a:spLocks noGrp="1"/>
          </p:cNvSpPr>
          <p:nvPr>
            <p:ph type="ftr" sz="quarter" idx="11"/>
          </p:nvPr>
        </p:nvSpPr>
        <p:spPr/>
        <p:txBody>
          <a:bodyPr/>
          <a:lstStyle/>
          <a:p>
            <a:endParaRPr lang="en-IN" dirty="0"/>
          </a:p>
        </p:txBody>
      </p:sp>
      <p:sp>
        <p:nvSpPr>
          <p:cNvPr id="10" name="Slide Number Placeholder 9"/>
          <p:cNvSpPr>
            <a:spLocks noGrp="1"/>
          </p:cNvSpPr>
          <p:nvPr>
            <p:ph type="sldNum" sz="quarter" idx="12"/>
          </p:nvPr>
        </p:nvSpPr>
        <p:spPr/>
        <p:txBody>
          <a:bodyPr/>
          <a:lstStyle/>
          <a:p>
            <a:fld id="{EF082095-BF1B-4008-BCEE-BC06904C763A}" type="slidenum">
              <a:rPr lang="en-IN" smtClean="0"/>
              <a:t>‹#›</a:t>
            </a:fld>
            <a:endParaRPr lang="en-IN" dirty="0"/>
          </a:p>
        </p:txBody>
      </p:sp>
    </p:spTree>
    <p:extLst>
      <p:ext uri="{BB962C8B-B14F-4D97-AF65-F5344CB8AC3E}">
        <p14:creationId xmlns:p14="http://schemas.microsoft.com/office/powerpoint/2010/main" val="2965292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C9656037-31D1-44DA-96BC-566CD0A404D5}" type="datetimeFigureOut">
              <a:rPr lang="en-IN" smtClean="0"/>
              <a:t>07-01-2026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EF082095-BF1B-4008-BCEE-BC06904C763A}" type="slidenum">
              <a:rPr lang="en-IN" smtClean="0"/>
              <a:t>‹#›</a:t>
            </a:fld>
            <a:endParaRPr lang="en-IN"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092496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656037-31D1-44DA-96BC-566CD0A404D5}" type="datetimeFigureOut">
              <a:rPr lang="en-IN" smtClean="0"/>
              <a:t>07-01-2026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EF082095-BF1B-4008-BCEE-BC06904C763A}" type="slidenum">
              <a:rPr lang="en-IN" smtClean="0"/>
              <a:t>‹#›</a:t>
            </a:fld>
            <a:endParaRPr lang="en-IN" dirty="0"/>
          </a:p>
        </p:txBody>
      </p:sp>
    </p:spTree>
    <p:extLst>
      <p:ext uri="{BB962C8B-B14F-4D97-AF65-F5344CB8AC3E}">
        <p14:creationId xmlns:p14="http://schemas.microsoft.com/office/powerpoint/2010/main" val="3052490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656037-31D1-44DA-96BC-566CD0A404D5}" type="datetimeFigureOut">
              <a:rPr lang="en-IN" smtClean="0"/>
              <a:t>07-01-2026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EF082095-BF1B-4008-BCEE-BC06904C763A}" type="slidenum">
              <a:rPr lang="en-IN" smtClean="0"/>
              <a:t>‹#›</a:t>
            </a:fld>
            <a:endParaRPr lang="en-IN" dirty="0"/>
          </a:p>
        </p:txBody>
      </p:sp>
    </p:spTree>
    <p:extLst>
      <p:ext uri="{BB962C8B-B14F-4D97-AF65-F5344CB8AC3E}">
        <p14:creationId xmlns:p14="http://schemas.microsoft.com/office/powerpoint/2010/main" val="468422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C9656037-31D1-44DA-96BC-566CD0A404D5}" type="datetimeFigureOut">
              <a:rPr lang="en-IN" smtClean="0"/>
              <a:t>07-01-2026</a:t>
            </a:fld>
            <a:endParaRPr lang="en-IN"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dirty="0"/>
          </a:p>
        </p:txBody>
      </p:sp>
      <p:sp>
        <p:nvSpPr>
          <p:cNvPr id="11" name="Slide Number Placeholder 10"/>
          <p:cNvSpPr>
            <a:spLocks noGrp="1"/>
          </p:cNvSpPr>
          <p:nvPr>
            <p:ph type="sldNum" sz="quarter" idx="12"/>
          </p:nvPr>
        </p:nvSpPr>
        <p:spPr/>
        <p:txBody>
          <a:bodyPr/>
          <a:lstStyle/>
          <a:p>
            <a:fld id="{EF082095-BF1B-4008-BCEE-BC06904C763A}" type="slidenum">
              <a:rPr lang="en-IN" smtClean="0"/>
              <a:t>‹#›</a:t>
            </a:fld>
            <a:endParaRPr lang="en-IN" dirty="0"/>
          </a:p>
        </p:txBody>
      </p:sp>
    </p:spTree>
    <p:extLst>
      <p:ext uri="{BB962C8B-B14F-4D97-AF65-F5344CB8AC3E}">
        <p14:creationId xmlns:p14="http://schemas.microsoft.com/office/powerpoint/2010/main" val="3541386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C9656037-31D1-44DA-96BC-566CD0A404D5}" type="datetimeFigureOut">
              <a:rPr lang="en-IN" smtClean="0"/>
              <a:t>07-01-2026</a:t>
            </a:fld>
            <a:endParaRPr lang="en-IN"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EF082095-BF1B-4008-BCEE-BC06904C763A}" type="slidenum">
              <a:rPr lang="en-IN" smtClean="0"/>
              <a:t>‹#›</a:t>
            </a:fld>
            <a:endParaRPr lang="en-IN" dirty="0"/>
          </a:p>
        </p:txBody>
      </p:sp>
    </p:spTree>
    <p:extLst>
      <p:ext uri="{BB962C8B-B14F-4D97-AF65-F5344CB8AC3E}">
        <p14:creationId xmlns:p14="http://schemas.microsoft.com/office/powerpoint/2010/main" val="1155318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656037-31D1-44DA-96BC-566CD0A404D5}" type="datetimeFigureOut">
              <a:rPr lang="en-IN" smtClean="0"/>
              <a:t>07-01-2026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F082095-BF1B-4008-BCEE-BC06904C763A}" type="slidenum">
              <a:rPr lang="en-IN" smtClean="0"/>
              <a:t>‹#›</a:t>
            </a:fld>
            <a:endParaRPr lang="en-IN" dirty="0"/>
          </a:p>
        </p:txBody>
      </p:sp>
    </p:spTree>
    <p:extLst>
      <p:ext uri="{BB962C8B-B14F-4D97-AF65-F5344CB8AC3E}">
        <p14:creationId xmlns:p14="http://schemas.microsoft.com/office/powerpoint/2010/main" val="537768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656037-31D1-44DA-96BC-566CD0A404D5}" type="datetimeFigureOut">
              <a:rPr lang="en-IN" smtClean="0"/>
              <a:t>07-01-2026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F082095-BF1B-4008-BCEE-BC06904C763A}" type="slidenum">
              <a:rPr lang="en-IN" smtClean="0"/>
              <a:t>‹#›</a:t>
            </a:fld>
            <a:endParaRPr lang="en-IN" dirty="0"/>
          </a:p>
        </p:txBody>
      </p:sp>
    </p:spTree>
    <p:extLst>
      <p:ext uri="{BB962C8B-B14F-4D97-AF65-F5344CB8AC3E}">
        <p14:creationId xmlns:p14="http://schemas.microsoft.com/office/powerpoint/2010/main" val="802852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C9656037-31D1-44DA-96BC-566CD0A404D5}" type="datetimeFigureOut">
              <a:rPr lang="en-IN" smtClean="0"/>
              <a:t>07-01-2026</a:t>
            </a:fld>
            <a:endParaRPr lang="en-IN"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EF082095-BF1B-4008-BCEE-BC06904C763A}" type="slidenum">
              <a:rPr lang="en-IN" smtClean="0"/>
              <a:t>‹#›</a:t>
            </a:fld>
            <a:endParaRPr lang="en-IN" dirty="0"/>
          </a:p>
        </p:txBody>
      </p:sp>
    </p:spTree>
    <p:extLst>
      <p:ext uri="{BB962C8B-B14F-4D97-AF65-F5344CB8AC3E}">
        <p14:creationId xmlns:p14="http://schemas.microsoft.com/office/powerpoint/2010/main" val="2929400877"/>
      </p:ext>
    </p:extLst>
  </p:cSld>
  <p:clrMap bg1="lt1" tx1="dk1" bg2="lt2" tx2="dk2" accent1="accent1" accent2="accent2" accent3="accent3" accent4="accent4" accent5="accent5" accent6="accent6" hlink="hlink" folHlink="folHlink"/>
  <p:sldLayoutIdLst>
    <p:sldLayoutId id="2147483900"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69D53-5AD9-35D4-1546-FA25035B3EA4}"/>
              </a:ext>
            </a:extLst>
          </p:cNvPr>
          <p:cNvSpPr>
            <a:spLocks noGrp="1"/>
          </p:cNvSpPr>
          <p:nvPr>
            <p:ph type="title"/>
          </p:nvPr>
        </p:nvSpPr>
        <p:spPr>
          <a:xfrm>
            <a:off x="838200" y="406348"/>
            <a:ext cx="10515600" cy="894049"/>
          </a:xfrm>
        </p:spPr>
        <p:txBody>
          <a:bodyPr>
            <a:noAutofit/>
          </a:bodyPr>
          <a:lstStyle/>
          <a:p>
            <a:r>
              <a:rPr lang="en-US" sz="3200" b="1" dirty="0">
                <a:solidFill>
                  <a:srgbClr val="FF0000"/>
                </a:solidFill>
                <a:latin typeface="Georgia" panose="02040502050405020303" pitchFamily="18" charset="0"/>
              </a:rPr>
              <a:t>ZOMATO RESTAURANT ANALYTICS PROJECT</a:t>
            </a:r>
          </a:p>
        </p:txBody>
      </p:sp>
      <p:pic>
        <p:nvPicPr>
          <p:cNvPr id="9" name="Picture 8">
            <a:extLst>
              <a:ext uri="{FF2B5EF4-FFF2-40B4-BE49-F238E27FC236}">
                <a16:creationId xmlns:a16="http://schemas.microsoft.com/office/drawing/2014/main" id="{0CBB8844-1793-B7E8-3A5A-E60BFE7601EC}"/>
              </a:ext>
            </a:extLst>
          </p:cNvPr>
          <p:cNvPicPr>
            <a:picLocks noChangeAspect="1"/>
          </p:cNvPicPr>
          <p:nvPr/>
        </p:nvPicPr>
        <p:blipFill>
          <a:blip r:embed="rId2">
            <a:alphaModFix/>
            <a:extLst>
              <a:ext uri="{BEBA8EAE-BF5A-486C-A8C5-ECC9F3942E4B}">
                <a14:imgProps xmlns:a14="http://schemas.microsoft.com/office/drawing/2010/main">
                  <a14:imgLayer r:embed="rId3">
                    <a14:imgEffect>
                      <a14:saturation sat="200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838200" y="1319213"/>
            <a:ext cx="10515600" cy="5132439"/>
          </a:xfrm>
          <a:prstGeom prst="rect">
            <a:avLst/>
          </a:prstGeom>
        </p:spPr>
      </p:pic>
    </p:spTree>
    <p:extLst>
      <p:ext uri="{BB962C8B-B14F-4D97-AF65-F5344CB8AC3E}">
        <p14:creationId xmlns:p14="http://schemas.microsoft.com/office/powerpoint/2010/main" val="1870641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9411B-E043-A8EB-0F82-BDD76D1BBD89}"/>
              </a:ext>
            </a:extLst>
          </p:cNvPr>
          <p:cNvSpPr>
            <a:spLocks noGrp="1"/>
          </p:cNvSpPr>
          <p:nvPr>
            <p:ph type="title"/>
          </p:nvPr>
        </p:nvSpPr>
        <p:spPr>
          <a:xfrm>
            <a:off x="824459" y="1229193"/>
            <a:ext cx="3927423" cy="714686"/>
          </a:xfrm>
        </p:spPr>
        <p:txBody>
          <a:bodyPr>
            <a:noAutofit/>
          </a:bodyPr>
          <a:lstStyle/>
          <a:p>
            <a:r>
              <a:rPr lang="en-US" sz="3200" b="1" dirty="0">
                <a:solidFill>
                  <a:srgbClr val="FF0000"/>
                </a:solidFill>
                <a:latin typeface="Georgia" panose="02040502050405020303" pitchFamily="18" charset="0"/>
                <a:cs typeface="Times New Roman" panose="02020603050405020304" pitchFamily="18" charset="0"/>
              </a:rPr>
              <a:t>AGENDA</a:t>
            </a:r>
            <a:endParaRPr lang="en-IN" sz="3200" dirty="0">
              <a:solidFill>
                <a:srgbClr val="FF0000"/>
              </a:solidFill>
              <a:latin typeface="Georgia" panose="02040502050405020303" pitchFamily="18" charset="0"/>
            </a:endParaRPr>
          </a:p>
        </p:txBody>
      </p:sp>
      <p:graphicFrame>
        <p:nvGraphicFramePr>
          <p:cNvPr id="7" name="Content Placeholder 2">
            <a:extLst>
              <a:ext uri="{FF2B5EF4-FFF2-40B4-BE49-F238E27FC236}">
                <a16:creationId xmlns:a16="http://schemas.microsoft.com/office/drawing/2014/main" id="{8CF528BE-E86B-4138-9F78-62BC59C0E5BD}"/>
              </a:ext>
            </a:extLst>
          </p:cNvPr>
          <p:cNvGraphicFramePr>
            <a:graphicFrameLocks noGrp="1"/>
          </p:cNvGraphicFramePr>
          <p:nvPr>
            <p:ph idx="1"/>
            <p:extLst>
              <p:ext uri="{D42A27DB-BD31-4B8C-83A1-F6EECF244321}">
                <p14:modId xmlns:p14="http://schemas.microsoft.com/office/powerpoint/2010/main" val="3220390321"/>
              </p:ext>
            </p:extLst>
          </p:nvPr>
        </p:nvGraphicFramePr>
        <p:xfrm>
          <a:off x="677334" y="2160589"/>
          <a:ext cx="8596668" cy="31586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4495494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F2A488F-0264-EA69-B61E-E5A478399E6F}"/>
              </a:ext>
            </a:extLst>
          </p:cNvPr>
          <p:cNvSpPr txBox="1"/>
          <p:nvPr/>
        </p:nvSpPr>
        <p:spPr>
          <a:xfrm>
            <a:off x="2415381" y="2271148"/>
            <a:ext cx="8134352" cy="771166"/>
          </a:xfrm>
          <a:prstGeom prst="rect">
            <a:avLst/>
          </a:prstGeom>
        </p:spPr>
        <p:txBody>
          <a:bodyPr vert="horz" lIns="228600" tIns="228600" rIns="228600" bIns="228600" rtlCol="0" anchor="ctr">
            <a:normAutofit/>
          </a:bodyPr>
          <a:lstStyle/>
          <a:p>
            <a:pPr algn="ctr" defTabSz="914400">
              <a:lnSpc>
                <a:spcPct val="85000"/>
              </a:lnSpc>
              <a:spcBef>
                <a:spcPct val="0"/>
              </a:spcBef>
              <a:spcAft>
                <a:spcPts val="600"/>
              </a:spcAft>
            </a:pPr>
            <a:r>
              <a:rPr lang="en-US" sz="2400" b="0" i="0" kern="1200" cap="none" spc="-150" dirty="0">
                <a:solidFill>
                  <a:srgbClr val="FFFEFF"/>
                </a:solidFill>
                <a:effectLst/>
                <a:latin typeface="+mj-lt"/>
                <a:ea typeface="+mj-ea"/>
                <a:cs typeface="+mj-cs"/>
              </a:rPr>
              <a:t>Introduction</a:t>
            </a:r>
          </a:p>
        </p:txBody>
      </p:sp>
      <p:sp>
        <p:nvSpPr>
          <p:cNvPr id="2" name="Title 1">
            <a:extLst>
              <a:ext uri="{FF2B5EF4-FFF2-40B4-BE49-F238E27FC236}">
                <a16:creationId xmlns:a16="http://schemas.microsoft.com/office/drawing/2014/main" id="{19473029-294E-7588-246E-8496C651AC69}"/>
              </a:ext>
            </a:extLst>
          </p:cNvPr>
          <p:cNvSpPr>
            <a:spLocks noGrp="1"/>
          </p:cNvSpPr>
          <p:nvPr>
            <p:ph type="title"/>
          </p:nvPr>
        </p:nvSpPr>
        <p:spPr>
          <a:xfrm>
            <a:off x="804672" y="655752"/>
            <a:ext cx="4540528" cy="704538"/>
          </a:xfrm>
        </p:spPr>
        <p:txBody>
          <a:bodyPr>
            <a:noAutofit/>
          </a:bodyPr>
          <a:lstStyle/>
          <a:p>
            <a:pPr lvl="0">
              <a:lnSpc>
                <a:spcPct val="100000"/>
              </a:lnSpc>
            </a:pPr>
            <a:r>
              <a:rPr lang="en-US" sz="3200" b="1" dirty="0">
                <a:solidFill>
                  <a:srgbClr val="FF0000"/>
                </a:solidFill>
                <a:latin typeface="Georgia" panose="02040502050405020303" pitchFamily="18" charset="0"/>
                <a:cs typeface="Times New Roman" panose="02020603050405020304" pitchFamily="18" charset="0"/>
              </a:rPr>
              <a:t>INTRODUCTION</a:t>
            </a:r>
            <a:endParaRPr lang="en-US" sz="3200" dirty="0">
              <a:solidFill>
                <a:srgbClr val="FF0000"/>
              </a:solidFill>
              <a:latin typeface="Georgia" panose="02040502050405020303" pitchFamily="18" charset="0"/>
            </a:endParaRPr>
          </a:p>
        </p:txBody>
      </p:sp>
      <p:graphicFrame>
        <p:nvGraphicFramePr>
          <p:cNvPr id="10" name="Content Placeholder 4">
            <a:extLst>
              <a:ext uri="{FF2B5EF4-FFF2-40B4-BE49-F238E27FC236}">
                <a16:creationId xmlns:a16="http://schemas.microsoft.com/office/drawing/2014/main" id="{5BF72302-C5EC-DE27-AA31-A915E3A39290}"/>
              </a:ext>
            </a:extLst>
          </p:cNvPr>
          <p:cNvGraphicFramePr>
            <a:graphicFrameLocks noGrp="1"/>
          </p:cNvGraphicFramePr>
          <p:nvPr>
            <p:ph idx="1"/>
            <p:extLst>
              <p:ext uri="{D42A27DB-BD31-4B8C-83A1-F6EECF244321}">
                <p14:modId xmlns:p14="http://schemas.microsoft.com/office/powerpoint/2010/main" val="3004141941"/>
              </p:ext>
            </p:extLst>
          </p:nvPr>
        </p:nvGraphicFramePr>
        <p:xfrm>
          <a:off x="804672" y="1528997"/>
          <a:ext cx="10692784" cy="44820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000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66DB71C3-8E2C-FFE5-78ED-DAB409D3BFFD}"/>
              </a:ext>
            </a:extLst>
          </p:cNvPr>
          <p:cNvSpPr>
            <a:spLocks noChangeArrowheads="1"/>
          </p:cNvSpPr>
          <p:nvPr/>
        </p:nvSpPr>
        <p:spPr bwMode="auto">
          <a:xfrm>
            <a:off x="1160488" y="2172591"/>
            <a:ext cx="1019331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FontTx/>
              <a:buChar char="•"/>
            </a:pPr>
            <a:r>
              <a:rPr lang="en-US" altLang="en-US" sz="2400" b="1" kern="1300" spc="60" dirty="0">
                <a:latin typeface="Constantia" panose="02030602050306030303" pitchFamily="18" charset="0"/>
              </a:rPr>
              <a:t>Restaurant ID </a:t>
            </a:r>
            <a:r>
              <a:rPr lang="en-US" altLang="en-US" sz="2400" kern="1300" spc="60" dirty="0">
                <a:latin typeface="Constantia" panose="02030602050306030303" pitchFamily="18" charset="0"/>
              </a:rPr>
              <a:t>– Restaurants Numbers</a:t>
            </a:r>
            <a:endParaRPr kumimoji="0" lang="en-US" altLang="en-US" sz="2400" b="1" i="0" u="none" strike="noStrike" kern="1300" cap="none" spc="60" normalizeH="0" baseline="0" dirty="0">
              <a:ln>
                <a:noFill/>
              </a:ln>
              <a:solidFill>
                <a:schemeClr val="tx1"/>
              </a:solidFill>
              <a:effectLst/>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kern="1300" cap="none" spc="60" normalizeH="0" baseline="0" dirty="0">
                <a:ln>
                  <a:noFill/>
                </a:ln>
                <a:solidFill>
                  <a:schemeClr val="tx1"/>
                </a:solidFill>
                <a:effectLst/>
                <a:latin typeface="Constantia" panose="02030602050306030303" pitchFamily="18" charset="0"/>
              </a:rPr>
              <a:t>Restaurant Name</a:t>
            </a:r>
            <a:r>
              <a:rPr kumimoji="0" lang="en-US" altLang="en-US" sz="2400" b="0" i="0" u="none" strike="noStrike" kern="1300" cap="none" spc="60" normalizeH="0" baseline="0" dirty="0">
                <a:ln>
                  <a:noFill/>
                </a:ln>
                <a:solidFill>
                  <a:schemeClr val="tx1"/>
                </a:solidFill>
                <a:effectLst/>
                <a:latin typeface="Constantia" panose="02030602050306030303" pitchFamily="18" charset="0"/>
              </a:rPr>
              <a:t> – Name of the restaurant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kern="1300" cap="none" spc="60" normalizeH="0" baseline="0" dirty="0">
                <a:ln>
                  <a:noFill/>
                </a:ln>
                <a:solidFill>
                  <a:schemeClr val="tx1"/>
                </a:solidFill>
                <a:effectLst/>
                <a:latin typeface="Constantia" panose="02030602050306030303" pitchFamily="18" charset="0"/>
              </a:rPr>
              <a:t>City / Location</a:t>
            </a:r>
            <a:r>
              <a:rPr kumimoji="0" lang="en-US" altLang="en-US" sz="2400" b="0" i="0" u="none" strike="noStrike" kern="1300" cap="none" spc="60" normalizeH="0" baseline="0" dirty="0">
                <a:ln>
                  <a:noFill/>
                </a:ln>
                <a:solidFill>
                  <a:schemeClr val="tx1"/>
                </a:solidFill>
                <a:effectLst/>
                <a:latin typeface="Constantia" panose="02030602050306030303" pitchFamily="18" charset="0"/>
              </a:rPr>
              <a:t> – City where the restaurant is located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kern="1300" cap="none" spc="60" normalizeH="0" baseline="0" dirty="0">
                <a:ln>
                  <a:noFill/>
                </a:ln>
                <a:solidFill>
                  <a:schemeClr val="tx1"/>
                </a:solidFill>
                <a:effectLst/>
                <a:latin typeface="Constantia" panose="02030602050306030303" pitchFamily="18" charset="0"/>
              </a:rPr>
              <a:t>Cuisine</a:t>
            </a:r>
            <a:r>
              <a:rPr kumimoji="0" lang="en-US" altLang="en-US" sz="2400" b="0" i="0" u="none" strike="noStrike" kern="1300" cap="none" spc="60" normalizeH="0" baseline="0" dirty="0">
                <a:ln>
                  <a:noFill/>
                </a:ln>
                <a:solidFill>
                  <a:schemeClr val="tx1"/>
                </a:solidFill>
                <a:effectLst/>
                <a:latin typeface="Constantia" panose="02030602050306030303" pitchFamily="18" charset="0"/>
              </a:rPr>
              <a:t> – Types of food served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kern="1300" cap="none" spc="60" normalizeH="0" baseline="0" dirty="0">
                <a:ln>
                  <a:noFill/>
                </a:ln>
                <a:solidFill>
                  <a:schemeClr val="tx1"/>
                </a:solidFill>
                <a:effectLst/>
                <a:latin typeface="Constantia" panose="02030602050306030303" pitchFamily="18" charset="0"/>
              </a:rPr>
              <a:t>Average Cost for Two</a:t>
            </a:r>
            <a:r>
              <a:rPr kumimoji="0" lang="en-US" altLang="en-US" sz="2400" b="0" i="0" u="none" strike="noStrike" kern="1300" cap="none" spc="60" normalizeH="0" baseline="0" dirty="0">
                <a:ln>
                  <a:noFill/>
                </a:ln>
                <a:solidFill>
                  <a:schemeClr val="tx1"/>
                </a:solidFill>
                <a:effectLst/>
                <a:latin typeface="Constantia" panose="02030602050306030303" pitchFamily="18" charset="0"/>
              </a:rPr>
              <a:t> – Approximate dining cost for two people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kern="1300" cap="none" spc="60" normalizeH="0" baseline="0" dirty="0">
                <a:ln>
                  <a:noFill/>
                </a:ln>
                <a:solidFill>
                  <a:schemeClr val="tx1"/>
                </a:solidFill>
                <a:effectLst/>
                <a:latin typeface="Constantia" panose="02030602050306030303" pitchFamily="18" charset="0"/>
              </a:rPr>
              <a:t>Aggregate Rating</a:t>
            </a:r>
            <a:r>
              <a:rPr kumimoji="0" lang="en-US" altLang="en-US" sz="2400" b="0" i="0" u="none" strike="noStrike" kern="1300" cap="none" spc="60" normalizeH="0" baseline="0" dirty="0">
                <a:ln>
                  <a:noFill/>
                </a:ln>
                <a:solidFill>
                  <a:schemeClr val="tx1"/>
                </a:solidFill>
                <a:effectLst/>
                <a:latin typeface="Constantia" panose="02030602050306030303" pitchFamily="18" charset="0"/>
              </a:rPr>
              <a:t> – Overall customer rating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kern="1300" cap="none" spc="60" normalizeH="0" baseline="0" dirty="0">
                <a:ln>
                  <a:noFill/>
                </a:ln>
                <a:solidFill>
                  <a:schemeClr val="tx1"/>
                </a:solidFill>
                <a:effectLst/>
                <a:latin typeface="Constantia" panose="02030602050306030303" pitchFamily="18" charset="0"/>
              </a:rPr>
              <a:t>Votes</a:t>
            </a:r>
            <a:r>
              <a:rPr kumimoji="0" lang="en-US" altLang="en-US" sz="2400" b="0" i="0" u="none" strike="noStrike" kern="1300" cap="none" spc="60" normalizeH="0" baseline="0" dirty="0">
                <a:ln>
                  <a:noFill/>
                </a:ln>
                <a:solidFill>
                  <a:schemeClr val="tx1"/>
                </a:solidFill>
                <a:effectLst/>
                <a:latin typeface="Constantia" panose="02030602050306030303" pitchFamily="18" charset="0"/>
              </a:rPr>
              <a:t> – Number of customer votes received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kern="1300" cap="none" spc="60" normalizeH="0" baseline="0" dirty="0">
                <a:ln>
                  <a:noFill/>
                </a:ln>
                <a:solidFill>
                  <a:schemeClr val="tx1"/>
                </a:solidFill>
                <a:effectLst/>
                <a:latin typeface="Constantia" panose="02030602050306030303" pitchFamily="18" charset="0"/>
              </a:rPr>
              <a:t>Reviews</a:t>
            </a:r>
            <a:r>
              <a:rPr kumimoji="0" lang="en-US" altLang="en-US" sz="2400" b="0" i="0" u="none" strike="noStrike" kern="1300" cap="none" spc="60" normalizeH="0" baseline="0" dirty="0">
                <a:ln>
                  <a:noFill/>
                </a:ln>
                <a:solidFill>
                  <a:schemeClr val="tx1"/>
                </a:solidFill>
                <a:effectLst/>
                <a:latin typeface="Constantia" panose="02030602050306030303" pitchFamily="18" charset="0"/>
              </a:rPr>
              <a:t> – Customer feedback and comments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kern="1300" cap="none" spc="60" normalizeH="0" baseline="0" dirty="0">
                <a:ln>
                  <a:noFill/>
                </a:ln>
                <a:solidFill>
                  <a:schemeClr val="tx1"/>
                </a:solidFill>
                <a:effectLst/>
                <a:latin typeface="Constantia" panose="02030602050306030303" pitchFamily="18" charset="0"/>
              </a:rPr>
              <a:t>Online Order</a:t>
            </a:r>
            <a:r>
              <a:rPr kumimoji="0" lang="en-US" altLang="en-US" sz="2400" b="0" i="0" u="none" strike="noStrike" kern="1300" cap="none" spc="60" normalizeH="0" baseline="0" dirty="0">
                <a:ln>
                  <a:noFill/>
                </a:ln>
                <a:solidFill>
                  <a:schemeClr val="tx1"/>
                </a:solidFill>
                <a:effectLst/>
                <a:latin typeface="Constantia" panose="02030602050306030303" pitchFamily="18" charset="0"/>
              </a:rPr>
              <a:t> – Availability of online food ordering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kern="1300" cap="none" spc="60" normalizeH="0" baseline="0" dirty="0">
                <a:ln>
                  <a:noFill/>
                </a:ln>
                <a:solidFill>
                  <a:schemeClr val="tx1"/>
                </a:solidFill>
                <a:effectLst/>
                <a:latin typeface="Constantia" panose="02030602050306030303" pitchFamily="18" charset="0"/>
              </a:rPr>
              <a:t>Table Booking</a:t>
            </a:r>
            <a:r>
              <a:rPr kumimoji="0" lang="en-US" altLang="en-US" sz="2400" b="0" i="0" u="none" strike="noStrike" kern="1300" cap="none" spc="60" normalizeH="0" baseline="0" dirty="0">
                <a:ln>
                  <a:noFill/>
                </a:ln>
                <a:solidFill>
                  <a:schemeClr val="tx1"/>
                </a:solidFill>
                <a:effectLst/>
                <a:latin typeface="Constantia" panose="02030602050306030303" pitchFamily="18" charset="0"/>
              </a:rPr>
              <a:t> – Availability of table reservation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kern="1300" cap="none" spc="60" normalizeH="0" baseline="0" dirty="0">
                <a:ln>
                  <a:noFill/>
                </a:ln>
                <a:solidFill>
                  <a:schemeClr val="tx1"/>
                </a:solidFill>
                <a:effectLst/>
                <a:latin typeface="Constantia" panose="02030602050306030303" pitchFamily="18" charset="0"/>
              </a:rPr>
              <a:t>Country</a:t>
            </a:r>
            <a:r>
              <a:rPr kumimoji="0" lang="en-US" altLang="en-US" sz="2400" b="0" i="0" u="none" strike="noStrike" kern="1300" cap="none" spc="60" normalizeH="0" baseline="0" dirty="0">
                <a:ln>
                  <a:noFill/>
                </a:ln>
                <a:solidFill>
                  <a:schemeClr val="tx1"/>
                </a:solidFill>
                <a:effectLst/>
                <a:latin typeface="Constantia" panose="02030602050306030303" pitchFamily="18" charset="0"/>
              </a:rPr>
              <a:t> – Country where the restaurant operates</a:t>
            </a:r>
            <a:endParaRPr kumimoji="0" lang="en-US" altLang="en-US" sz="2000" b="0" i="0" u="none" strike="noStrike" kern="1300" cap="none" spc="60" normalizeH="0" baseline="0" dirty="0">
              <a:ln>
                <a:noFill/>
              </a:ln>
              <a:solidFill>
                <a:schemeClr val="tx1"/>
              </a:solidFill>
              <a:effectLst/>
              <a:latin typeface="Arial" panose="020B0604020202020204" pitchFamily="34" charset="0"/>
            </a:endParaRPr>
          </a:p>
        </p:txBody>
      </p:sp>
      <p:sp>
        <p:nvSpPr>
          <p:cNvPr id="9" name="Title 8">
            <a:extLst>
              <a:ext uri="{FF2B5EF4-FFF2-40B4-BE49-F238E27FC236}">
                <a16:creationId xmlns:a16="http://schemas.microsoft.com/office/drawing/2014/main" id="{CDA9CF0D-CC72-BE0E-F18D-E90F88348F54}"/>
              </a:ext>
            </a:extLst>
          </p:cNvPr>
          <p:cNvSpPr>
            <a:spLocks noGrp="1"/>
          </p:cNvSpPr>
          <p:nvPr>
            <p:ph type="title"/>
          </p:nvPr>
        </p:nvSpPr>
        <p:spPr>
          <a:xfrm>
            <a:off x="838200" y="524656"/>
            <a:ext cx="10515600" cy="599606"/>
          </a:xfrm>
        </p:spPr>
        <p:txBody>
          <a:bodyPr>
            <a:noAutofit/>
          </a:bodyPr>
          <a:lstStyle/>
          <a:p>
            <a:r>
              <a:rPr lang="en-US" sz="3200" b="1" dirty="0">
                <a:solidFill>
                  <a:srgbClr val="FF0000"/>
                </a:solidFill>
                <a:latin typeface="Georgia" panose="02040502050405020303" pitchFamily="18" charset="0"/>
                <a:cs typeface="Times New Roman" panose="02020603050405020304" pitchFamily="18" charset="0"/>
              </a:rPr>
              <a:t>DATA OVERVIEW</a:t>
            </a:r>
            <a:endParaRPr lang="en-US" sz="3200" dirty="0">
              <a:solidFill>
                <a:srgbClr val="FF0000"/>
              </a:solidFill>
              <a:latin typeface="Georgia" panose="02040502050405020303" pitchFamily="18" charset="0"/>
            </a:endParaRPr>
          </a:p>
        </p:txBody>
      </p:sp>
      <p:sp>
        <p:nvSpPr>
          <p:cNvPr id="10" name="Rectangle 3">
            <a:extLst>
              <a:ext uri="{FF2B5EF4-FFF2-40B4-BE49-F238E27FC236}">
                <a16:creationId xmlns:a16="http://schemas.microsoft.com/office/drawing/2014/main" id="{ECB770CF-2B90-CBFD-B98D-3A0281BC6794}"/>
              </a:ext>
            </a:extLst>
          </p:cNvPr>
          <p:cNvSpPr>
            <a:spLocks noChangeArrowheads="1"/>
          </p:cNvSpPr>
          <p:nvPr/>
        </p:nvSpPr>
        <p:spPr bwMode="auto">
          <a:xfrm>
            <a:off x="1160488" y="1602963"/>
            <a:ext cx="48942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effectLst/>
                <a:latin typeface="Georgia" panose="02040502050405020303" pitchFamily="18" charset="0"/>
              </a:rPr>
              <a:t>KEY FEATURES OF THE DATASET:</a:t>
            </a:r>
          </a:p>
        </p:txBody>
      </p:sp>
    </p:spTree>
    <p:extLst>
      <p:ext uri="{BB962C8B-B14F-4D97-AF65-F5344CB8AC3E}">
        <p14:creationId xmlns:p14="http://schemas.microsoft.com/office/powerpoint/2010/main" val="1240755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06920-9A37-EFA3-F42E-4AF9787B3977}"/>
              </a:ext>
            </a:extLst>
          </p:cNvPr>
          <p:cNvSpPr>
            <a:spLocks noGrp="1"/>
          </p:cNvSpPr>
          <p:nvPr>
            <p:ph type="title"/>
          </p:nvPr>
        </p:nvSpPr>
        <p:spPr>
          <a:xfrm>
            <a:off x="838200" y="365126"/>
            <a:ext cx="10515600" cy="668348"/>
          </a:xfrm>
        </p:spPr>
        <p:txBody>
          <a:bodyPr>
            <a:noAutofit/>
          </a:bodyPr>
          <a:lstStyle/>
          <a:p>
            <a:r>
              <a:rPr lang="en-US" sz="3200" b="1" dirty="0">
                <a:solidFill>
                  <a:srgbClr val="FF0000"/>
                </a:solidFill>
                <a:latin typeface="Georgia" panose="02040502050405020303" pitchFamily="18" charset="0"/>
                <a:cs typeface="Times New Roman" panose="02020603050405020304" pitchFamily="18" charset="0"/>
              </a:rPr>
              <a:t>KPIs &amp; ANALYSIS OVERVIEW</a:t>
            </a:r>
            <a:endParaRPr lang="en-US" sz="3200" dirty="0">
              <a:solidFill>
                <a:srgbClr val="FF0000"/>
              </a:solidFill>
              <a:latin typeface="Georgia" panose="02040502050405020303" pitchFamily="18" charset="0"/>
            </a:endParaRPr>
          </a:p>
        </p:txBody>
      </p:sp>
      <p:sp>
        <p:nvSpPr>
          <p:cNvPr id="12" name="Content Placeholder 11">
            <a:extLst>
              <a:ext uri="{FF2B5EF4-FFF2-40B4-BE49-F238E27FC236}">
                <a16:creationId xmlns:a16="http://schemas.microsoft.com/office/drawing/2014/main" id="{A20665E8-4A4A-4D66-2F50-40580767914B}"/>
              </a:ext>
            </a:extLst>
          </p:cNvPr>
          <p:cNvSpPr>
            <a:spLocks noGrp="1"/>
          </p:cNvSpPr>
          <p:nvPr>
            <p:ph idx="1"/>
          </p:nvPr>
        </p:nvSpPr>
        <p:spPr>
          <a:xfrm>
            <a:off x="838200" y="4833862"/>
            <a:ext cx="10515600" cy="1769855"/>
          </a:xfrm>
        </p:spPr>
        <p:txBody>
          <a:bodyPr>
            <a:normAutofit/>
          </a:bodyPr>
          <a:lstStyle/>
          <a:p>
            <a:r>
              <a:rPr lang="en-US" sz="2400" dirty="0">
                <a:latin typeface="Constantia" panose="02030602050306030303" pitchFamily="18" charset="0"/>
              </a:rPr>
              <a:t>Highlights cities with the highest number of restaurants, showing market concentration.</a:t>
            </a:r>
          </a:p>
          <a:p>
            <a:r>
              <a:rPr lang="en-US" sz="2400" dirty="0">
                <a:latin typeface="Constantia" panose="02030602050306030303" pitchFamily="18" charset="0"/>
              </a:rPr>
              <a:t>Used to identify Zomato’s strongest demand hubs for expansion and targeting.</a:t>
            </a:r>
          </a:p>
        </p:txBody>
      </p:sp>
      <p:graphicFrame>
        <p:nvGraphicFramePr>
          <p:cNvPr id="9" name="Table 8">
            <a:extLst>
              <a:ext uri="{FF2B5EF4-FFF2-40B4-BE49-F238E27FC236}">
                <a16:creationId xmlns:a16="http://schemas.microsoft.com/office/drawing/2014/main" id="{CA0710CB-26AE-78A8-3E30-B596B44135B2}"/>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1329248474"/>
                    </a:ext>
                  </a:extLst>
                </a:gridCol>
              </a:tblGrid>
              <a:tr h="0">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3565526788"/>
                  </a:ext>
                </a:extLst>
              </a:tr>
            </a:tbl>
          </a:graphicData>
        </a:graphic>
      </p:graphicFrame>
      <p:graphicFrame>
        <p:nvGraphicFramePr>
          <p:cNvPr id="10" name="Table 9">
            <a:extLst>
              <a:ext uri="{FF2B5EF4-FFF2-40B4-BE49-F238E27FC236}">
                <a16:creationId xmlns:a16="http://schemas.microsoft.com/office/drawing/2014/main" id="{6038407F-51E7-25BA-F3E7-6AADA51BCE53}"/>
              </a:ext>
            </a:extLst>
          </p:cNvPr>
          <p:cNvGraphicFramePr>
            <a:graphicFrameLocks noGrp="1"/>
          </p:cNvGraphicFramePr>
          <p:nvPr>
            <p:extLst>
              <p:ext uri="{D42A27DB-BD31-4B8C-83A1-F6EECF244321}">
                <p14:modId xmlns:p14="http://schemas.microsoft.com/office/powerpoint/2010/main" val="4168423636"/>
              </p:ext>
            </p:extLst>
          </p:nvPr>
        </p:nvGraphicFramePr>
        <p:xfrm>
          <a:off x="838200" y="1330686"/>
          <a:ext cx="10515600" cy="396240"/>
        </p:xfrm>
        <a:graphic>
          <a:graphicData uri="http://schemas.openxmlformats.org/drawingml/2006/table">
            <a:tbl>
              <a:tblPr/>
              <a:tblGrid>
                <a:gridCol w="10515600">
                  <a:extLst>
                    <a:ext uri="{9D8B030D-6E8A-4147-A177-3AD203B41FA5}">
                      <a16:colId xmlns:a16="http://schemas.microsoft.com/office/drawing/2014/main" val="2475761375"/>
                    </a:ext>
                  </a:extLst>
                </a:gridCol>
              </a:tblGrid>
              <a:tr h="0">
                <a:tc>
                  <a:txBody>
                    <a:bodyPr/>
                    <a:lstStyle/>
                    <a:p>
                      <a:pPr>
                        <a:buNone/>
                      </a:pPr>
                      <a:r>
                        <a:rPr lang="en-US" sz="2000" b="1" dirty="0">
                          <a:solidFill>
                            <a:schemeClr val="tx1"/>
                          </a:solidFill>
                          <a:latin typeface="Georgia" panose="02040502050405020303" pitchFamily="18" charset="0"/>
                        </a:rPr>
                        <a:t>TOP 5 CITIES BY RESTAURANT COUNT</a:t>
                      </a:r>
                      <a:endParaRPr lang="en-US" sz="2000" dirty="0">
                        <a:solidFill>
                          <a:schemeClr val="tx1"/>
                        </a:solidFill>
                        <a:latin typeface="Georgia" panose="02040502050405020303" pitchFamily="18" charset="0"/>
                      </a:endParaRPr>
                    </a:p>
                  </a:txBody>
                  <a:tcPr anchor="ctr">
                    <a:lnL>
                      <a:noFill/>
                    </a:lnL>
                    <a:lnR>
                      <a:noFill/>
                    </a:lnR>
                    <a:lnT>
                      <a:noFill/>
                    </a:lnT>
                    <a:lnB>
                      <a:noFill/>
                    </a:lnB>
                    <a:noFill/>
                  </a:tcPr>
                </a:tc>
                <a:extLst>
                  <a:ext uri="{0D108BD9-81ED-4DB2-BD59-A6C34878D82A}">
                    <a16:rowId xmlns:a16="http://schemas.microsoft.com/office/drawing/2014/main" val="174009613"/>
                  </a:ext>
                </a:extLst>
              </a:tr>
            </a:tbl>
          </a:graphicData>
        </a:graphic>
      </p:graphicFrame>
      <p:pic>
        <p:nvPicPr>
          <p:cNvPr id="14" name="Picture 13">
            <a:extLst>
              <a:ext uri="{FF2B5EF4-FFF2-40B4-BE49-F238E27FC236}">
                <a16:creationId xmlns:a16="http://schemas.microsoft.com/office/drawing/2014/main" id="{947E6C5A-F1D1-BBFC-906A-429B710F9304}"/>
              </a:ext>
            </a:extLst>
          </p:cNvPr>
          <p:cNvPicPr>
            <a:picLocks noChangeAspect="1"/>
          </p:cNvPicPr>
          <p:nvPr/>
        </p:nvPicPr>
        <p:blipFill>
          <a:blip r:embed="rId2">
            <a:extLst>
              <a:ext uri="{28A0092B-C50C-407E-A947-70E740481C1C}">
                <a14:useLocalDpi xmlns:a14="http://schemas.microsoft.com/office/drawing/2010/main" val="0"/>
              </a:ext>
            </a:extLst>
          </a:blip>
          <a:srcRect t="18050"/>
          <a:stretch>
            <a:fillRect/>
          </a:stretch>
        </p:blipFill>
        <p:spPr>
          <a:xfrm>
            <a:off x="2841371" y="2024138"/>
            <a:ext cx="6272649" cy="2785303"/>
          </a:xfrm>
          <a:prstGeom prst="rect">
            <a:avLst/>
          </a:prstGeom>
        </p:spPr>
      </p:pic>
    </p:spTree>
    <p:extLst>
      <p:ext uri="{BB962C8B-B14F-4D97-AF65-F5344CB8AC3E}">
        <p14:creationId xmlns:p14="http://schemas.microsoft.com/office/powerpoint/2010/main" val="1315974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81335-F644-B172-56C8-3A029DBD4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82CA70-735E-A300-D7AF-28152F0FCBE6}"/>
              </a:ext>
            </a:extLst>
          </p:cNvPr>
          <p:cNvSpPr>
            <a:spLocks noGrp="1"/>
          </p:cNvSpPr>
          <p:nvPr>
            <p:ph type="title"/>
          </p:nvPr>
        </p:nvSpPr>
        <p:spPr>
          <a:xfrm>
            <a:off x="838200" y="365126"/>
            <a:ext cx="10515600" cy="668348"/>
          </a:xfrm>
        </p:spPr>
        <p:txBody>
          <a:bodyPr>
            <a:noAutofit/>
          </a:bodyPr>
          <a:lstStyle/>
          <a:p>
            <a:r>
              <a:rPr lang="en-US" sz="3200" b="1" dirty="0">
                <a:solidFill>
                  <a:srgbClr val="FF0000"/>
                </a:solidFill>
                <a:latin typeface="Georgia" panose="02040502050405020303" pitchFamily="18" charset="0"/>
                <a:cs typeface="Times New Roman" panose="02020603050405020304" pitchFamily="18" charset="0"/>
              </a:rPr>
              <a:t>KPIs &amp; ANALYSIS OVERVIEW</a:t>
            </a:r>
            <a:endParaRPr lang="en-US" sz="3200" dirty="0">
              <a:solidFill>
                <a:srgbClr val="FF0000"/>
              </a:solidFill>
              <a:latin typeface="Georgia" panose="02040502050405020303" pitchFamily="18" charset="0"/>
            </a:endParaRPr>
          </a:p>
        </p:txBody>
      </p:sp>
      <p:sp>
        <p:nvSpPr>
          <p:cNvPr id="12" name="Content Placeholder 11">
            <a:extLst>
              <a:ext uri="{FF2B5EF4-FFF2-40B4-BE49-F238E27FC236}">
                <a16:creationId xmlns:a16="http://schemas.microsoft.com/office/drawing/2014/main" id="{59209CAF-1208-5A7A-1364-0823B2EAB908}"/>
              </a:ext>
            </a:extLst>
          </p:cNvPr>
          <p:cNvSpPr>
            <a:spLocks noGrp="1"/>
          </p:cNvSpPr>
          <p:nvPr>
            <p:ph idx="1"/>
          </p:nvPr>
        </p:nvSpPr>
        <p:spPr>
          <a:xfrm>
            <a:off x="838200" y="4674537"/>
            <a:ext cx="10350708" cy="1888762"/>
          </a:xfrm>
        </p:spPr>
        <p:txBody>
          <a:bodyPr>
            <a:noAutofit/>
          </a:bodyPr>
          <a:lstStyle/>
          <a:p>
            <a:r>
              <a:rPr lang="en-US" sz="2400" dirty="0">
                <a:latin typeface="Constantia" panose="02030602050306030303" pitchFamily="18" charset="0"/>
              </a:rPr>
              <a:t>Shows restaurant count in rating buckets to assess overall customer experience spread.</a:t>
            </a:r>
          </a:p>
          <a:p>
            <a:r>
              <a:rPr lang="en-US" sz="2400" dirty="0">
                <a:latin typeface="Constantia" panose="02030602050306030303" pitchFamily="18" charset="0"/>
              </a:rPr>
              <a:t>Used to understand how many restaurants fall in low vs high satisfaction ranges.</a:t>
            </a:r>
          </a:p>
        </p:txBody>
      </p:sp>
      <p:graphicFrame>
        <p:nvGraphicFramePr>
          <p:cNvPr id="9" name="Table 8">
            <a:extLst>
              <a:ext uri="{FF2B5EF4-FFF2-40B4-BE49-F238E27FC236}">
                <a16:creationId xmlns:a16="http://schemas.microsoft.com/office/drawing/2014/main" id="{95EF6829-A851-7ADD-75F5-2BB8B2884605}"/>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1329248474"/>
                    </a:ext>
                  </a:extLst>
                </a:gridCol>
              </a:tblGrid>
              <a:tr h="0">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3565526788"/>
                  </a:ext>
                </a:extLst>
              </a:tr>
            </a:tbl>
          </a:graphicData>
        </a:graphic>
      </p:graphicFrame>
      <p:graphicFrame>
        <p:nvGraphicFramePr>
          <p:cNvPr id="10" name="Table 9">
            <a:extLst>
              <a:ext uri="{FF2B5EF4-FFF2-40B4-BE49-F238E27FC236}">
                <a16:creationId xmlns:a16="http://schemas.microsoft.com/office/drawing/2014/main" id="{962D9FA5-4AAD-2E2A-93CC-2586187FA1C5}"/>
              </a:ext>
            </a:extLst>
          </p:cNvPr>
          <p:cNvGraphicFramePr>
            <a:graphicFrameLocks noGrp="1"/>
          </p:cNvGraphicFramePr>
          <p:nvPr>
            <p:extLst>
              <p:ext uri="{D42A27DB-BD31-4B8C-83A1-F6EECF244321}">
                <p14:modId xmlns:p14="http://schemas.microsoft.com/office/powerpoint/2010/main" val="4138377488"/>
              </p:ext>
            </p:extLst>
          </p:nvPr>
        </p:nvGraphicFramePr>
        <p:xfrm>
          <a:off x="838200" y="1325717"/>
          <a:ext cx="10515600" cy="396240"/>
        </p:xfrm>
        <a:graphic>
          <a:graphicData uri="http://schemas.openxmlformats.org/drawingml/2006/table">
            <a:tbl>
              <a:tblPr/>
              <a:tblGrid>
                <a:gridCol w="10515600">
                  <a:extLst>
                    <a:ext uri="{9D8B030D-6E8A-4147-A177-3AD203B41FA5}">
                      <a16:colId xmlns:a16="http://schemas.microsoft.com/office/drawing/2014/main" val="2475761375"/>
                    </a:ext>
                  </a:extLst>
                </a:gridCol>
              </a:tblGrid>
              <a:tr h="0">
                <a:tc>
                  <a:txBody>
                    <a:bodyPr/>
                    <a:lstStyle/>
                    <a:p>
                      <a:pPr>
                        <a:buNone/>
                      </a:pPr>
                      <a:r>
                        <a:rPr lang="en-US" sz="2000" b="1" dirty="0">
                          <a:solidFill>
                            <a:schemeClr val="tx1"/>
                          </a:solidFill>
                          <a:latin typeface="Georgia" panose="02040502050405020303" pitchFamily="18" charset="0"/>
                        </a:rPr>
                        <a:t>RESTAURANTS BY RATING CATEGORY</a:t>
                      </a:r>
                    </a:p>
                  </a:txBody>
                  <a:tcPr anchor="ctr">
                    <a:lnL>
                      <a:noFill/>
                    </a:lnL>
                    <a:lnR>
                      <a:noFill/>
                    </a:lnR>
                    <a:lnT>
                      <a:noFill/>
                    </a:lnT>
                    <a:lnB>
                      <a:noFill/>
                    </a:lnB>
                    <a:noFill/>
                  </a:tcPr>
                </a:tc>
                <a:extLst>
                  <a:ext uri="{0D108BD9-81ED-4DB2-BD59-A6C34878D82A}">
                    <a16:rowId xmlns:a16="http://schemas.microsoft.com/office/drawing/2014/main" val="174009613"/>
                  </a:ext>
                </a:extLst>
              </a:tr>
            </a:tbl>
          </a:graphicData>
        </a:graphic>
      </p:graphicFrame>
      <p:pic>
        <p:nvPicPr>
          <p:cNvPr id="14" name="Picture 13">
            <a:extLst>
              <a:ext uri="{FF2B5EF4-FFF2-40B4-BE49-F238E27FC236}">
                <a16:creationId xmlns:a16="http://schemas.microsoft.com/office/drawing/2014/main" id="{7EC7A32F-D7D7-9C7C-B4DD-36FF846F3AA5}"/>
              </a:ext>
            </a:extLst>
          </p:cNvPr>
          <p:cNvPicPr>
            <a:picLocks noChangeAspect="1"/>
          </p:cNvPicPr>
          <p:nvPr/>
        </p:nvPicPr>
        <p:blipFill>
          <a:blip r:embed="rId2">
            <a:extLst>
              <a:ext uri="{28A0092B-C50C-407E-A947-70E740481C1C}">
                <a14:useLocalDpi xmlns:a14="http://schemas.microsoft.com/office/drawing/2010/main" val="0"/>
              </a:ext>
            </a:extLst>
          </a:blip>
          <a:srcRect t="15014" r="7647" b="1182"/>
          <a:stretch>
            <a:fillRect/>
          </a:stretch>
        </p:blipFill>
        <p:spPr>
          <a:xfrm>
            <a:off x="2871351" y="1818184"/>
            <a:ext cx="5792963" cy="2856352"/>
          </a:xfrm>
          <a:prstGeom prst="rect">
            <a:avLst/>
          </a:prstGeom>
        </p:spPr>
      </p:pic>
    </p:spTree>
    <p:extLst>
      <p:ext uri="{BB962C8B-B14F-4D97-AF65-F5344CB8AC3E}">
        <p14:creationId xmlns:p14="http://schemas.microsoft.com/office/powerpoint/2010/main" val="2773310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40506-3684-C098-A9EA-CAE517DDF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309853-91B4-E618-E9A6-D40308D0B2A2}"/>
              </a:ext>
            </a:extLst>
          </p:cNvPr>
          <p:cNvSpPr>
            <a:spLocks noGrp="1"/>
          </p:cNvSpPr>
          <p:nvPr>
            <p:ph type="title"/>
          </p:nvPr>
        </p:nvSpPr>
        <p:spPr>
          <a:xfrm>
            <a:off x="838200" y="365126"/>
            <a:ext cx="10515600" cy="668348"/>
          </a:xfrm>
        </p:spPr>
        <p:txBody>
          <a:bodyPr>
            <a:noAutofit/>
          </a:bodyPr>
          <a:lstStyle/>
          <a:p>
            <a:r>
              <a:rPr lang="en-US" sz="3200" b="1" dirty="0">
                <a:solidFill>
                  <a:srgbClr val="FF0000"/>
                </a:solidFill>
                <a:latin typeface="Georgia" panose="02040502050405020303" pitchFamily="18" charset="0"/>
                <a:cs typeface="Times New Roman" panose="02020603050405020304" pitchFamily="18" charset="0"/>
              </a:rPr>
              <a:t>KPIs &amp; ANALYSIS OVERVIEW</a:t>
            </a:r>
            <a:endParaRPr lang="en-US" sz="3200" dirty="0">
              <a:solidFill>
                <a:srgbClr val="FF0000"/>
              </a:solidFill>
              <a:latin typeface="Georgia" panose="02040502050405020303" pitchFamily="18" charset="0"/>
            </a:endParaRPr>
          </a:p>
        </p:txBody>
      </p:sp>
      <p:sp>
        <p:nvSpPr>
          <p:cNvPr id="12" name="Content Placeholder 11">
            <a:extLst>
              <a:ext uri="{FF2B5EF4-FFF2-40B4-BE49-F238E27FC236}">
                <a16:creationId xmlns:a16="http://schemas.microsoft.com/office/drawing/2014/main" id="{0F2B3A0C-9F58-7856-D9FE-3F5B89CC1C39}"/>
              </a:ext>
            </a:extLst>
          </p:cNvPr>
          <p:cNvSpPr>
            <a:spLocks noGrp="1"/>
          </p:cNvSpPr>
          <p:nvPr>
            <p:ph idx="1"/>
          </p:nvPr>
        </p:nvSpPr>
        <p:spPr>
          <a:xfrm>
            <a:off x="838200" y="4904912"/>
            <a:ext cx="10515600" cy="1769855"/>
          </a:xfrm>
        </p:spPr>
        <p:txBody>
          <a:bodyPr>
            <a:normAutofit/>
          </a:bodyPr>
          <a:lstStyle/>
          <a:p>
            <a:r>
              <a:rPr lang="en-US" sz="2400" dirty="0">
                <a:latin typeface="Constantia" panose="02030602050306030303" pitchFamily="18" charset="0"/>
              </a:rPr>
              <a:t>Shows monthly opening patterns to track seasonality in onboarding restaurants.</a:t>
            </a:r>
          </a:p>
          <a:p>
            <a:r>
              <a:rPr lang="en-US" sz="2400" dirty="0">
                <a:latin typeface="Constantia" panose="02030602050306030303" pitchFamily="18" charset="0"/>
              </a:rPr>
              <a:t>Helps detect peak months where restaurant acquisition activity is highest.</a:t>
            </a:r>
          </a:p>
        </p:txBody>
      </p:sp>
      <p:graphicFrame>
        <p:nvGraphicFramePr>
          <p:cNvPr id="9" name="Table 8">
            <a:extLst>
              <a:ext uri="{FF2B5EF4-FFF2-40B4-BE49-F238E27FC236}">
                <a16:creationId xmlns:a16="http://schemas.microsoft.com/office/drawing/2014/main" id="{86B0AB1D-398B-97FC-5A78-70B544DDF4F0}"/>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1329248474"/>
                    </a:ext>
                  </a:extLst>
                </a:gridCol>
              </a:tblGrid>
              <a:tr h="0">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3565526788"/>
                  </a:ext>
                </a:extLst>
              </a:tr>
            </a:tbl>
          </a:graphicData>
        </a:graphic>
      </p:graphicFrame>
      <p:graphicFrame>
        <p:nvGraphicFramePr>
          <p:cNvPr id="10" name="Table 9">
            <a:extLst>
              <a:ext uri="{FF2B5EF4-FFF2-40B4-BE49-F238E27FC236}">
                <a16:creationId xmlns:a16="http://schemas.microsoft.com/office/drawing/2014/main" id="{0514DD2A-E200-93F8-A11D-9BE31DC7B9D6}"/>
              </a:ext>
            </a:extLst>
          </p:cNvPr>
          <p:cNvGraphicFramePr>
            <a:graphicFrameLocks noGrp="1"/>
          </p:cNvGraphicFramePr>
          <p:nvPr>
            <p:extLst>
              <p:ext uri="{D42A27DB-BD31-4B8C-83A1-F6EECF244321}">
                <p14:modId xmlns:p14="http://schemas.microsoft.com/office/powerpoint/2010/main" val="1357619978"/>
              </p:ext>
            </p:extLst>
          </p:nvPr>
        </p:nvGraphicFramePr>
        <p:xfrm>
          <a:off x="838200" y="1264681"/>
          <a:ext cx="10515600" cy="396240"/>
        </p:xfrm>
        <a:graphic>
          <a:graphicData uri="http://schemas.openxmlformats.org/drawingml/2006/table">
            <a:tbl>
              <a:tblPr/>
              <a:tblGrid>
                <a:gridCol w="10515600">
                  <a:extLst>
                    <a:ext uri="{9D8B030D-6E8A-4147-A177-3AD203B41FA5}">
                      <a16:colId xmlns:a16="http://schemas.microsoft.com/office/drawing/2014/main" val="2475761375"/>
                    </a:ext>
                  </a:extLst>
                </a:gridCol>
              </a:tblGrid>
              <a:tr h="0">
                <a:tc>
                  <a:txBody>
                    <a:bodyPr/>
                    <a:lstStyle/>
                    <a:p>
                      <a:pPr>
                        <a:buNone/>
                      </a:pPr>
                      <a:r>
                        <a:rPr lang="en-US" sz="2000" b="1" dirty="0">
                          <a:latin typeface="Georgia" panose="02040502050405020303" pitchFamily="18" charset="0"/>
                        </a:rPr>
                        <a:t>RESTAURANT OPENINGS TREND</a:t>
                      </a:r>
                    </a:p>
                  </a:txBody>
                  <a:tcPr anchor="ctr">
                    <a:lnL>
                      <a:noFill/>
                    </a:lnL>
                    <a:lnR>
                      <a:noFill/>
                    </a:lnR>
                    <a:lnT>
                      <a:noFill/>
                    </a:lnT>
                    <a:lnB>
                      <a:noFill/>
                    </a:lnB>
                    <a:noFill/>
                  </a:tcPr>
                </a:tc>
                <a:extLst>
                  <a:ext uri="{0D108BD9-81ED-4DB2-BD59-A6C34878D82A}">
                    <a16:rowId xmlns:a16="http://schemas.microsoft.com/office/drawing/2014/main" val="174009613"/>
                  </a:ext>
                </a:extLst>
              </a:tr>
            </a:tbl>
          </a:graphicData>
        </a:graphic>
      </p:graphicFrame>
      <p:pic>
        <p:nvPicPr>
          <p:cNvPr id="14" name="Picture 13">
            <a:extLst>
              <a:ext uri="{FF2B5EF4-FFF2-40B4-BE49-F238E27FC236}">
                <a16:creationId xmlns:a16="http://schemas.microsoft.com/office/drawing/2014/main" id="{C14EBB2F-6C3E-ECBB-CE38-BD1F1ACFD295}"/>
              </a:ext>
            </a:extLst>
          </p:cNvPr>
          <p:cNvPicPr>
            <a:picLocks noChangeAspect="1"/>
          </p:cNvPicPr>
          <p:nvPr/>
        </p:nvPicPr>
        <p:blipFill>
          <a:blip r:embed="rId2">
            <a:extLst>
              <a:ext uri="{28A0092B-C50C-407E-A947-70E740481C1C}">
                <a14:useLocalDpi xmlns:a14="http://schemas.microsoft.com/office/drawing/2010/main" val="0"/>
              </a:ext>
            </a:extLst>
          </a:blip>
          <a:srcRect l="-1448" t="11335" r="1463"/>
          <a:stretch>
            <a:fillRect/>
          </a:stretch>
        </p:blipFill>
        <p:spPr>
          <a:xfrm>
            <a:off x="2385934" y="1953088"/>
            <a:ext cx="7420131" cy="2902185"/>
          </a:xfrm>
          <a:prstGeom prst="rect">
            <a:avLst/>
          </a:prstGeom>
        </p:spPr>
      </p:pic>
    </p:spTree>
    <p:extLst>
      <p:ext uri="{BB962C8B-B14F-4D97-AF65-F5344CB8AC3E}">
        <p14:creationId xmlns:p14="http://schemas.microsoft.com/office/powerpoint/2010/main" val="2249492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FF656-1AC1-2025-B57E-3042D77C38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93E234-FA44-5B98-6808-1DFDCCB9E6B5}"/>
              </a:ext>
            </a:extLst>
          </p:cNvPr>
          <p:cNvSpPr>
            <a:spLocks noGrp="1"/>
          </p:cNvSpPr>
          <p:nvPr>
            <p:ph type="title"/>
          </p:nvPr>
        </p:nvSpPr>
        <p:spPr>
          <a:xfrm>
            <a:off x="838200" y="365126"/>
            <a:ext cx="10515600" cy="668348"/>
          </a:xfrm>
        </p:spPr>
        <p:txBody>
          <a:bodyPr>
            <a:noAutofit/>
          </a:bodyPr>
          <a:lstStyle/>
          <a:p>
            <a:r>
              <a:rPr lang="en-US" sz="3200" b="1" dirty="0">
                <a:solidFill>
                  <a:srgbClr val="FF0000"/>
                </a:solidFill>
                <a:latin typeface="Georgia" panose="02040502050405020303" pitchFamily="18" charset="0"/>
                <a:cs typeface="Times New Roman" panose="02020603050405020304" pitchFamily="18" charset="0"/>
              </a:rPr>
              <a:t>KPIs &amp; ANALYSIS OVERVIEW</a:t>
            </a:r>
            <a:endParaRPr lang="en-US" sz="3200" dirty="0">
              <a:solidFill>
                <a:srgbClr val="FF0000"/>
              </a:solidFill>
              <a:latin typeface="Georgia" panose="02040502050405020303" pitchFamily="18" charset="0"/>
            </a:endParaRPr>
          </a:p>
        </p:txBody>
      </p:sp>
      <p:sp>
        <p:nvSpPr>
          <p:cNvPr id="12" name="Content Placeholder 11">
            <a:extLst>
              <a:ext uri="{FF2B5EF4-FFF2-40B4-BE49-F238E27FC236}">
                <a16:creationId xmlns:a16="http://schemas.microsoft.com/office/drawing/2014/main" id="{14533DF9-D085-A0E5-E689-9F10D3D17B36}"/>
              </a:ext>
            </a:extLst>
          </p:cNvPr>
          <p:cNvSpPr>
            <a:spLocks noGrp="1"/>
          </p:cNvSpPr>
          <p:nvPr>
            <p:ph idx="1"/>
          </p:nvPr>
        </p:nvSpPr>
        <p:spPr>
          <a:xfrm>
            <a:off x="838200" y="5004042"/>
            <a:ext cx="10515600" cy="1488832"/>
          </a:xfrm>
        </p:spPr>
        <p:txBody>
          <a:bodyPr>
            <a:normAutofit/>
          </a:bodyPr>
          <a:lstStyle/>
          <a:p>
            <a:r>
              <a:rPr lang="en-US" sz="2400" dirty="0">
                <a:latin typeface="Constantia" panose="02030602050306030303" pitchFamily="18" charset="0"/>
              </a:rPr>
              <a:t>Shows the highest-listed cuisines by restaurant count, spotting demand clusters.</a:t>
            </a:r>
          </a:p>
          <a:p>
            <a:r>
              <a:rPr lang="en-US" sz="2400" dirty="0">
                <a:latin typeface="Constantia" panose="02030602050306030303" pitchFamily="18" charset="0"/>
              </a:rPr>
              <a:t>Used to understand cuisine-level acquisition dominance.</a:t>
            </a:r>
          </a:p>
        </p:txBody>
      </p:sp>
      <p:graphicFrame>
        <p:nvGraphicFramePr>
          <p:cNvPr id="9" name="Table 8">
            <a:extLst>
              <a:ext uri="{FF2B5EF4-FFF2-40B4-BE49-F238E27FC236}">
                <a16:creationId xmlns:a16="http://schemas.microsoft.com/office/drawing/2014/main" id="{B78EC334-3881-822C-CFEC-18D00C4C6AC3}"/>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1329248474"/>
                    </a:ext>
                  </a:extLst>
                </a:gridCol>
              </a:tblGrid>
              <a:tr h="0">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3565526788"/>
                  </a:ext>
                </a:extLst>
              </a:tr>
            </a:tbl>
          </a:graphicData>
        </a:graphic>
      </p:graphicFrame>
      <p:graphicFrame>
        <p:nvGraphicFramePr>
          <p:cNvPr id="10" name="Table 9">
            <a:extLst>
              <a:ext uri="{FF2B5EF4-FFF2-40B4-BE49-F238E27FC236}">
                <a16:creationId xmlns:a16="http://schemas.microsoft.com/office/drawing/2014/main" id="{4A796EB3-3032-1D55-8DED-E2672AE71724}"/>
              </a:ext>
            </a:extLst>
          </p:cNvPr>
          <p:cNvGraphicFramePr>
            <a:graphicFrameLocks noGrp="1"/>
          </p:cNvGraphicFramePr>
          <p:nvPr>
            <p:extLst>
              <p:ext uri="{D42A27DB-BD31-4B8C-83A1-F6EECF244321}">
                <p14:modId xmlns:p14="http://schemas.microsoft.com/office/powerpoint/2010/main" val="29964952"/>
              </p:ext>
            </p:extLst>
          </p:nvPr>
        </p:nvGraphicFramePr>
        <p:xfrm>
          <a:off x="838200" y="1280995"/>
          <a:ext cx="10515600" cy="396240"/>
        </p:xfrm>
        <a:graphic>
          <a:graphicData uri="http://schemas.openxmlformats.org/drawingml/2006/table">
            <a:tbl>
              <a:tblPr/>
              <a:tblGrid>
                <a:gridCol w="10515600">
                  <a:extLst>
                    <a:ext uri="{9D8B030D-6E8A-4147-A177-3AD203B41FA5}">
                      <a16:colId xmlns:a16="http://schemas.microsoft.com/office/drawing/2014/main" val="2475761375"/>
                    </a:ext>
                  </a:extLst>
                </a:gridCol>
              </a:tblGrid>
              <a:tr h="0">
                <a:tc>
                  <a:txBody>
                    <a:bodyPr/>
                    <a:lstStyle/>
                    <a:p>
                      <a:pPr>
                        <a:buNone/>
                      </a:pPr>
                      <a:r>
                        <a:rPr lang="en-US" sz="2000" b="1" dirty="0">
                          <a:latin typeface="Georgia" panose="02040502050405020303" pitchFamily="18" charset="0"/>
                        </a:rPr>
                        <a:t>TOP CUISINES BY RESTAURANT</a:t>
                      </a:r>
                    </a:p>
                  </a:txBody>
                  <a:tcPr anchor="ctr">
                    <a:lnL>
                      <a:noFill/>
                    </a:lnL>
                    <a:lnR>
                      <a:noFill/>
                    </a:lnR>
                    <a:lnT>
                      <a:noFill/>
                    </a:lnT>
                    <a:lnB>
                      <a:noFill/>
                    </a:lnB>
                    <a:noFill/>
                  </a:tcPr>
                </a:tc>
                <a:extLst>
                  <a:ext uri="{0D108BD9-81ED-4DB2-BD59-A6C34878D82A}">
                    <a16:rowId xmlns:a16="http://schemas.microsoft.com/office/drawing/2014/main" val="174009613"/>
                  </a:ext>
                </a:extLst>
              </a:tr>
            </a:tbl>
          </a:graphicData>
        </a:graphic>
      </p:graphicFrame>
      <p:pic>
        <p:nvPicPr>
          <p:cNvPr id="14" name="Picture 13">
            <a:extLst>
              <a:ext uri="{FF2B5EF4-FFF2-40B4-BE49-F238E27FC236}">
                <a16:creationId xmlns:a16="http://schemas.microsoft.com/office/drawing/2014/main" id="{C7065691-13D3-C195-A746-D0F07B5A9C0A}"/>
              </a:ext>
            </a:extLst>
          </p:cNvPr>
          <p:cNvPicPr>
            <a:picLocks noChangeAspect="1"/>
          </p:cNvPicPr>
          <p:nvPr/>
        </p:nvPicPr>
        <p:blipFill>
          <a:blip r:embed="rId2">
            <a:extLst>
              <a:ext uri="{28A0092B-C50C-407E-A947-70E740481C1C}">
                <a14:useLocalDpi xmlns:a14="http://schemas.microsoft.com/office/drawing/2010/main" val="0"/>
              </a:ext>
            </a:extLst>
          </a:blip>
          <a:srcRect t="14605" b="397"/>
          <a:stretch>
            <a:fillRect/>
          </a:stretch>
        </p:blipFill>
        <p:spPr>
          <a:xfrm>
            <a:off x="2607407" y="1677235"/>
            <a:ext cx="6977186" cy="3326807"/>
          </a:xfrm>
          <a:prstGeom prst="rect">
            <a:avLst/>
          </a:prstGeom>
        </p:spPr>
      </p:pic>
    </p:spTree>
    <p:extLst>
      <p:ext uri="{BB962C8B-B14F-4D97-AF65-F5344CB8AC3E}">
        <p14:creationId xmlns:p14="http://schemas.microsoft.com/office/powerpoint/2010/main" val="2653558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D8BCB-23CC-17FB-E987-662F5FA463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830EA-394E-40FB-5FD2-AC4B417D2C7C}"/>
              </a:ext>
            </a:extLst>
          </p:cNvPr>
          <p:cNvSpPr>
            <a:spLocks noGrp="1"/>
          </p:cNvSpPr>
          <p:nvPr>
            <p:ph type="title"/>
          </p:nvPr>
        </p:nvSpPr>
        <p:spPr>
          <a:xfrm>
            <a:off x="838200" y="365126"/>
            <a:ext cx="10515600" cy="668348"/>
          </a:xfrm>
        </p:spPr>
        <p:txBody>
          <a:bodyPr>
            <a:noAutofit/>
          </a:bodyPr>
          <a:lstStyle/>
          <a:p>
            <a:r>
              <a:rPr lang="en-US" sz="3200" b="1" dirty="0">
                <a:solidFill>
                  <a:srgbClr val="FF0000"/>
                </a:solidFill>
                <a:latin typeface="Georgia" panose="02040502050405020303" pitchFamily="18" charset="0"/>
                <a:cs typeface="Times New Roman" panose="02020603050405020304" pitchFamily="18" charset="0"/>
              </a:rPr>
              <a:t>KPIs &amp; ANALYSIS OVERVIEW</a:t>
            </a:r>
            <a:endParaRPr lang="en-US" sz="3200" dirty="0">
              <a:solidFill>
                <a:srgbClr val="FF0000"/>
              </a:solidFill>
              <a:latin typeface="Georgia" panose="02040502050405020303" pitchFamily="18" charset="0"/>
            </a:endParaRPr>
          </a:p>
        </p:txBody>
      </p:sp>
      <p:sp>
        <p:nvSpPr>
          <p:cNvPr id="12" name="Content Placeholder 11">
            <a:extLst>
              <a:ext uri="{FF2B5EF4-FFF2-40B4-BE49-F238E27FC236}">
                <a16:creationId xmlns:a16="http://schemas.microsoft.com/office/drawing/2014/main" id="{3AA7D856-480A-5346-5929-95C9BEA65058}"/>
              </a:ext>
            </a:extLst>
          </p:cNvPr>
          <p:cNvSpPr>
            <a:spLocks noGrp="1"/>
          </p:cNvSpPr>
          <p:nvPr>
            <p:ph idx="1"/>
          </p:nvPr>
        </p:nvSpPr>
        <p:spPr>
          <a:xfrm>
            <a:off x="838200" y="5004042"/>
            <a:ext cx="10659256" cy="1488832"/>
          </a:xfrm>
        </p:spPr>
        <p:txBody>
          <a:bodyPr>
            <a:normAutofit/>
          </a:bodyPr>
          <a:lstStyle/>
          <a:p>
            <a:r>
              <a:rPr lang="en-US" sz="2400" dirty="0">
                <a:latin typeface="Constantia" panose="02030602050306030303" pitchFamily="18" charset="0"/>
              </a:rPr>
              <a:t>Shows the percentage of restaurants offering delivery, measuring convenience adoption.</a:t>
            </a:r>
          </a:p>
          <a:p>
            <a:r>
              <a:rPr lang="en-US" sz="2400" dirty="0">
                <a:latin typeface="Constantia" panose="02030602050306030303" pitchFamily="18" charset="0"/>
              </a:rPr>
              <a:t>Used to understand delivery readiness across Zomato’s restaurant network.</a:t>
            </a:r>
          </a:p>
        </p:txBody>
      </p:sp>
      <p:graphicFrame>
        <p:nvGraphicFramePr>
          <p:cNvPr id="10" name="Table 9">
            <a:extLst>
              <a:ext uri="{FF2B5EF4-FFF2-40B4-BE49-F238E27FC236}">
                <a16:creationId xmlns:a16="http://schemas.microsoft.com/office/drawing/2014/main" id="{440DD187-B373-74F9-A9A6-CF4449D2D690}"/>
              </a:ext>
            </a:extLst>
          </p:cNvPr>
          <p:cNvGraphicFramePr>
            <a:graphicFrameLocks noGrp="1"/>
          </p:cNvGraphicFramePr>
          <p:nvPr>
            <p:extLst>
              <p:ext uri="{D42A27DB-BD31-4B8C-83A1-F6EECF244321}">
                <p14:modId xmlns:p14="http://schemas.microsoft.com/office/powerpoint/2010/main" val="2133983952"/>
              </p:ext>
            </p:extLst>
          </p:nvPr>
        </p:nvGraphicFramePr>
        <p:xfrm>
          <a:off x="838200" y="1245596"/>
          <a:ext cx="10515600" cy="396240"/>
        </p:xfrm>
        <a:graphic>
          <a:graphicData uri="http://schemas.openxmlformats.org/drawingml/2006/table">
            <a:tbl>
              <a:tblPr/>
              <a:tblGrid>
                <a:gridCol w="10515600">
                  <a:extLst>
                    <a:ext uri="{9D8B030D-6E8A-4147-A177-3AD203B41FA5}">
                      <a16:colId xmlns:a16="http://schemas.microsoft.com/office/drawing/2014/main" val="2475761375"/>
                    </a:ext>
                  </a:extLst>
                </a:gridCol>
              </a:tblGrid>
              <a:tr h="0">
                <a:tc>
                  <a:txBody>
                    <a:bodyPr/>
                    <a:lstStyle/>
                    <a:p>
                      <a:pPr>
                        <a:buNone/>
                      </a:pPr>
                      <a:r>
                        <a:rPr lang="en-US" sz="2000" b="1" dirty="0">
                          <a:latin typeface="Georgia" panose="02040502050405020303" pitchFamily="18" charset="0"/>
                        </a:rPr>
                        <a:t>ONLINE DELIVERY AVAILABILITY (%)</a:t>
                      </a:r>
                    </a:p>
                  </a:txBody>
                  <a:tcPr anchor="ctr">
                    <a:lnL>
                      <a:noFill/>
                    </a:lnL>
                    <a:lnR>
                      <a:noFill/>
                    </a:lnR>
                    <a:lnT>
                      <a:noFill/>
                    </a:lnT>
                    <a:lnB>
                      <a:noFill/>
                    </a:lnB>
                    <a:noFill/>
                  </a:tcPr>
                </a:tc>
                <a:extLst>
                  <a:ext uri="{0D108BD9-81ED-4DB2-BD59-A6C34878D82A}">
                    <a16:rowId xmlns:a16="http://schemas.microsoft.com/office/drawing/2014/main" val="174009613"/>
                  </a:ext>
                </a:extLst>
              </a:tr>
            </a:tbl>
          </a:graphicData>
        </a:graphic>
      </p:graphicFrame>
      <p:pic>
        <p:nvPicPr>
          <p:cNvPr id="14" name="Picture 13">
            <a:extLst>
              <a:ext uri="{FF2B5EF4-FFF2-40B4-BE49-F238E27FC236}">
                <a16:creationId xmlns:a16="http://schemas.microsoft.com/office/drawing/2014/main" id="{0EC9F81C-D943-DEA5-CF07-BB80ED784185}"/>
              </a:ext>
            </a:extLst>
          </p:cNvPr>
          <p:cNvPicPr>
            <a:picLocks noChangeAspect="1"/>
          </p:cNvPicPr>
          <p:nvPr/>
        </p:nvPicPr>
        <p:blipFill>
          <a:blip r:embed="rId2">
            <a:extLst>
              <a:ext uri="{28A0092B-C50C-407E-A947-70E740481C1C}">
                <a14:useLocalDpi xmlns:a14="http://schemas.microsoft.com/office/drawing/2010/main" val="0"/>
              </a:ext>
            </a:extLst>
          </a:blip>
          <a:srcRect l="25233" t="10960" r="11388" b="7401"/>
          <a:stretch>
            <a:fillRect/>
          </a:stretch>
        </p:blipFill>
        <p:spPr>
          <a:xfrm>
            <a:off x="4480148" y="1641836"/>
            <a:ext cx="3389688" cy="3362207"/>
          </a:xfrm>
          <a:prstGeom prst="rect">
            <a:avLst/>
          </a:prstGeom>
        </p:spPr>
      </p:pic>
    </p:spTree>
    <p:extLst>
      <p:ext uri="{BB962C8B-B14F-4D97-AF65-F5344CB8AC3E}">
        <p14:creationId xmlns:p14="http://schemas.microsoft.com/office/powerpoint/2010/main" val="566861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8DAAC-C999-45F8-7A23-EF9FC6AB0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42862C-6660-F88F-28F0-A20E635A9FE0}"/>
              </a:ext>
            </a:extLst>
          </p:cNvPr>
          <p:cNvSpPr>
            <a:spLocks noGrp="1"/>
          </p:cNvSpPr>
          <p:nvPr>
            <p:ph type="title"/>
          </p:nvPr>
        </p:nvSpPr>
        <p:spPr>
          <a:xfrm>
            <a:off x="838200" y="365126"/>
            <a:ext cx="10515600" cy="668348"/>
          </a:xfrm>
        </p:spPr>
        <p:txBody>
          <a:bodyPr>
            <a:noAutofit/>
          </a:bodyPr>
          <a:lstStyle/>
          <a:p>
            <a:r>
              <a:rPr lang="en-US" sz="3200" b="1" dirty="0">
                <a:solidFill>
                  <a:srgbClr val="FF0000"/>
                </a:solidFill>
                <a:latin typeface="Georgia" panose="02040502050405020303" pitchFamily="18" charset="0"/>
                <a:cs typeface="Times New Roman" panose="02020603050405020304" pitchFamily="18" charset="0"/>
              </a:rPr>
              <a:t>KPIs &amp; ANALYSIS OVERVIEW</a:t>
            </a:r>
            <a:endParaRPr lang="en-US" sz="3200" dirty="0">
              <a:solidFill>
                <a:srgbClr val="FF0000"/>
              </a:solidFill>
              <a:latin typeface="Georgia" panose="02040502050405020303" pitchFamily="18" charset="0"/>
            </a:endParaRPr>
          </a:p>
        </p:txBody>
      </p:sp>
      <p:sp>
        <p:nvSpPr>
          <p:cNvPr id="12" name="Content Placeholder 11">
            <a:extLst>
              <a:ext uri="{FF2B5EF4-FFF2-40B4-BE49-F238E27FC236}">
                <a16:creationId xmlns:a16="http://schemas.microsoft.com/office/drawing/2014/main" id="{900D4091-81C4-8D90-FEE9-AEE47AB1EF14}"/>
              </a:ext>
            </a:extLst>
          </p:cNvPr>
          <p:cNvSpPr>
            <a:spLocks noGrp="1"/>
          </p:cNvSpPr>
          <p:nvPr>
            <p:ph idx="1"/>
          </p:nvPr>
        </p:nvSpPr>
        <p:spPr>
          <a:xfrm>
            <a:off x="838200" y="5004042"/>
            <a:ext cx="10515600" cy="1488832"/>
          </a:xfrm>
        </p:spPr>
        <p:txBody>
          <a:bodyPr>
            <a:normAutofit/>
          </a:bodyPr>
          <a:lstStyle/>
          <a:p>
            <a:r>
              <a:rPr lang="en-US" sz="2400" dirty="0">
                <a:latin typeface="Constantia" panose="02030602050306030303" pitchFamily="18" charset="0"/>
              </a:rPr>
              <a:t>Shows the percentage of restaurants supporting table booking, indicating dine-in demand.</a:t>
            </a:r>
          </a:p>
          <a:p>
            <a:r>
              <a:rPr lang="en-US" sz="2400" dirty="0">
                <a:latin typeface="Constantia" panose="02030602050306030303" pitchFamily="18" charset="0"/>
              </a:rPr>
              <a:t>Used to measure offline service adoption for reservation features.</a:t>
            </a:r>
          </a:p>
        </p:txBody>
      </p:sp>
      <p:graphicFrame>
        <p:nvGraphicFramePr>
          <p:cNvPr id="10" name="Table 9">
            <a:extLst>
              <a:ext uri="{FF2B5EF4-FFF2-40B4-BE49-F238E27FC236}">
                <a16:creationId xmlns:a16="http://schemas.microsoft.com/office/drawing/2014/main" id="{FE44C3B5-E11C-A471-EEA0-A72BE9620DBF}"/>
              </a:ext>
            </a:extLst>
          </p:cNvPr>
          <p:cNvGraphicFramePr>
            <a:graphicFrameLocks noGrp="1"/>
          </p:cNvGraphicFramePr>
          <p:nvPr>
            <p:extLst>
              <p:ext uri="{D42A27DB-BD31-4B8C-83A1-F6EECF244321}">
                <p14:modId xmlns:p14="http://schemas.microsoft.com/office/powerpoint/2010/main" val="1913724820"/>
              </p:ext>
            </p:extLst>
          </p:nvPr>
        </p:nvGraphicFramePr>
        <p:xfrm>
          <a:off x="838200" y="1256407"/>
          <a:ext cx="10515600" cy="396240"/>
        </p:xfrm>
        <a:graphic>
          <a:graphicData uri="http://schemas.openxmlformats.org/drawingml/2006/table">
            <a:tbl>
              <a:tblPr/>
              <a:tblGrid>
                <a:gridCol w="10515600">
                  <a:extLst>
                    <a:ext uri="{9D8B030D-6E8A-4147-A177-3AD203B41FA5}">
                      <a16:colId xmlns:a16="http://schemas.microsoft.com/office/drawing/2014/main" val="2475761375"/>
                    </a:ext>
                  </a:extLst>
                </a:gridCol>
              </a:tblGrid>
              <a:tr h="0">
                <a:tc>
                  <a:txBody>
                    <a:bodyPr/>
                    <a:lstStyle/>
                    <a:p>
                      <a:pPr>
                        <a:buNone/>
                      </a:pPr>
                      <a:r>
                        <a:rPr lang="en-US" sz="2000" b="1" dirty="0">
                          <a:latin typeface="Georgia" panose="02040502050405020303" pitchFamily="18" charset="0"/>
                        </a:rPr>
                        <a:t>TABLE BOOKING AVAILABILITY (%)</a:t>
                      </a:r>
                    </a:p>
                  </a:txBody>
                  <a:tcPr anchor="ctr">
                    <a:lnL>
                      <a:noFill/>
                    </a:lnL>
                    <a:lnR>
                      <a:noFill/>
                    </a:lnR>
                    <a:lnT>
                      <a:noFill/>
                    </a:lnT>
                    <a:lnB>
                      <a:noFill/>
                    </a:lnB>
                    <a:noFill/>
                  </a:tcPr>
                </a:tc>
                <a:extLst>
                  <a:ext uri="{0D108BD9-81ED-4DB2-BD59-A6C34878D82A}">
                    <a16:rowId xmlns:a16="http://schemas.microsoft.com/office/drawing/2014/main" val="174009613"/>
                  </a:ext>
                </a:extLst>
              </a:tr>
            </a:tbl>
          </a:graphicData>
        </a:graphic>
      </p:graphicFrame>
      <p:pic>
        <p:nvPicPr>
          <p:cNvPr id="14" name="Picture 13">
            <a:extLst>
              <a:ext uri="{FF2B5EF4-FFF2-40B4-BE49-F238E27FC236}">
                <a16:creationId xmlns:a16="http://schemas.microsoft.com/office/drawing/2014/main" id="{02871FAF-4AEC-FD4B-1F87-F8993C040604}"/>
              </a:ext>
            </a:extLst>
          </p:cNvPr>
          <p:cNvPicPr>
            <a:picLocks noChangeAspect="1"/>
          </p:cNvPicPr>
          <p:nvPr/>
        </p:nvPicPr>
        <p:blipFill>
          <a:blip r:embed="rId2">
            <a:extLst>
              <a:ext uri="{28A0092B-C50C-407E-A947-70E740481C1C}">
                <a14:useLocalDpi xmlns:a14="http://schemas.microsoft.com/office/drawing/2010/main" val="0"/>
              </a:ext>
            </a:extLst>
          </a:blip>
          <a:srcRect l="22712" t="11809" r="18983" b="6351"/>
          <a:stretch>
            <a:fillRect/>
          </a:stretch>
        </p:blipFill>
        <p:spPr>
          <a:xfrm>
            <a:off x="4527030" y="1652647"/>
            <a:ext cx="2938072" cy="3351395"/>
          </a:xfrm>
          <a:prstGeom prst="rect">
            <a:avLst/>
          </a:prstGeom>
        </p:spPr>
      </p:pic>
    </p:spTree>
    <p:extLst>
      <p:ext uri="{BB962C8B-B14F-4D97-AF65-F5344CB8AC3E}">
        <p14:creationId xmlns:p14="http://schemas.microsoft.com/office/powerpoint/2010/main" val="137039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D63F6-4FD9-A69E-38FB-E57D8570C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34818-735F-27D6-6111-1D24387EEC83}"/>
              </a:ext>
            </a:extLst>
          </p:cNvPr>
          <p:cNvSpPr>
            <a:spLocks noGrp="1"/>
          </p:cNvSpPr>
          <p:nvPr>
            <p:ph type="title"/>
          </p:nvPr>
        </p:nvSpPr>
        <p:spPr>
          <a:xfrm>
            <a:off x="838200" y="365126"/>
            <a:ext cx="10515600" cy="668348"/>
          </a:xfrm>
        </p:spPr>
        <p:txBody>
          <a:bodyPr>
            <a:noAutofit/>
          </a:bodyPr>
          <a:lstStyle/>
          <a:p>
            <a:r>
              <a:rPr lang="en-US" sz="3200" b="1" dirty="0">
                <a:solidFill>
                  <a:srgbClr val="FF0000"/>
                </a:solidFill>
                <a:latin typeface="Georgia" panose="02040502050405020303" pitchFamily="18" charset="0"/>
                <a:cs typeface="Times New Roman" panose="02020603050405020304" pitchFamily="18" charset="0"/>
              </a:rPr>
              <a:t>KPIs &amp; ANALYSIS OVERVIEW</a:t>
            </a:r>
            <a:endParaRPr lang="en-US" sz="3200" dirty="0">
              <a:solidFill>
                <a:srgbClr val="FF0000"/>
              </a:solidFill>
              <a:latin typeface="Georgia" panose="02040502050405020303" pitchFamily="18" charset="0"/>
            </a:endParaRPr>
          </a:p>
        </p:txBody>
      </p:sp>
      <p:sp>
        <p:nvSpPr>
          <p:cNvPr id="12" name="Content Placeholder 11">
            <a:extLst>
              <a:ext uri="{FF2B5EF4-FFF2-40B4-BE49-F238E27FC236}">
                <a16:creationId xmlns:a16="http://schemas.microsoft.com/office/drawing/2014/main" id="{06B9DBA6-DB17-65CD-9BFA-8C77580C322A}"/>
              </a:ext>
            </a:extLst>
          </p:cNvPr>
          <p:cNvSpPr>
            <a:spLocks noGrp="1"/>
          </p:cNvSpPr>
          <p:nvPr>
            <p:ph idx="1"/>
          </p:nvPr>
        </p:nvSpPr>
        <p:spPr>
          <a:xfrm>
            <a:off x="838200" y="4407107"/>
            <a:ext cx="10515600" cy="1663909"/>
          </a:xfrm>
        </p:spPr>
        <p:txBody>
          <a:bodyPr>
            <a:normAutofit/>
          </a:bodyPr>
          <a:lstStyle/>
          <a:p>
            <a:r>
              <a:rPr lang="en-US" sz="2400" dirty="0">
                <a:latin typeface="Constantia" panose="02030602050306030303" pitchFamily="18" charset="0"/>
              </a:rPr>
              <a:t>Segments restaurants into price buckets, showing affordability and premium distribution.</a:t>
            </a:r>
          </a:p>
          <a:p>
            <a:r>
              <a:rPr lang="en-US" sz="2400" dirty="0">
                <a:latin typeface="Constantia" panose="02030602050306030303" pitchFamily="18" charset="0"/>
              </a:rPr>
              <a:t>Used to understand pricing diversity across markets.</a:t>
            </a:r>
          </a:p>
        </p:txBody>
      </p:sp>
      <p:graphicFrame>
        <p:nvGraphicFramePr>
          <p:cNvPr id="9" name="Table 8">
            <a:extLst>
              <a:ext uri="{FF2B5EF4-FFF2-40B4-BE49-F238E27FC236}">
                <a16:creationId xmlns:a16="http://schemas.microsoft.com/office/drawing/2014/main" id="{8F807FE3-7186-A112-83A5-D9113453A985}"/>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1329248474"/>
                    </a:ext>
                  </a:extLst>
                </a:gridCol>
              </a:tblGrid>
              <a:tr h="0">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3565526788"/>
                  </a:ext>
                </a:extLst>
              </a:tr>
            </a:tbl>
          </a:graphicData>
        </a:graphic>
      </p:graphicFrame>
      <p:pic>
        <p:nvPicPr>
          <p:cNvPr id="14" name="Picture 13">
            <a:extLst>
              <a:ext uri="{FF2B5EF4-FFF2-40B4-BE49-F238E27FC236}">
                <a16:creationId xmlns:a16="http://schemas.microsoft.com/office/drawing/2014/main" id="{609E057F-AE50-EB83-9981-8A36976F93CF}"/>
              </a:ext>
            </a:extLst>
          </p:cNvPr>
          <p:cNvPicPr>
            <a:picLocks noChangeAspect="1"/>
          </p:cNvPicPr>
          <p:nvPr/>
        </p:nvPicPr>
        <p:blipFill>
          <a:blip r:embed="rId2">
            <a:extLst>
              <a:ext uri="{28A0092B-C50C-407E-A947-70E740481C1C}">
                <a14:useLocalDpi xmlns:a14="http://schemas.microsoft.com/office/drawing/2010/main" val="0"/>
              </a:ext>
            </a:extLst>
          </a:blip>
          <a:srcRect l="1542" t="13465" r="6092" b="18808"/>
          <a:stretch>
            <a:fillRect/>
          </a:stretch>
        </p:blipFill>
        <p:spPr>
          <a:xfrm>
            <a:off x="3612630" y="1823607"/>
            <a:ext cx="4679429" cy="2431958"/>
          </a:xfrm>
          <a:prstGeom prst="rect">
            <a:avLst/>
          </a:prstGeom>
        </p:spPr>
      </p:pic>
      <p:graphicFrame>
        <p:nvGraphicFramePr>
          <p:cNvPr id="4" name="Table 3">
            <a:extLst>
              <a:ext uri="{FF2B5EF4-FFF2-40B4-BE49-F238E27FC236}">
                <a16:creationId xmlns:a16="http://schemas.microsoft.com/office/drawing/2014/main" id="{E573339B-2696-0577-817B-CE0C024CACBB}"/>
              </a:ext>
            </a:extLst>
          </p:cNvPr>
          <p:cNvGraphicFramePr>
            <a:graphicFrameLocks noGrp="1"/>
          </p:cNvGraphicFramePr>
          <p:nvPr>
            <p:extLst>
              <p:ext uri="{D42A27DB-BD31-4B8C-83A1-F6EECF244321}">
                <p14:modId xmlns:p14="http://schemas.microsoft.com/office/powerpoint/2010/main" val="1702314490"/>
              </p:ext>
            </p:extLst>
          </p:nvPr>
        </p:nvGraphicFramePr>
        <p:xfrm>
          <a:off x="838200" y="1144941"/>
          <a:ext cx="10515600" cy="396240"/>
        </p:xfrm>
        <a:graphic>
          <a:graphicData uri="http://schemas.openxmlformats.org/drawingml/2006/table">
            <a:tbl>
              <a:tblPr/>
              <a:tblGrid>
                <a:gridCol w="10515600">
                  <a:extLst>
                    <a:ext uri="{9D8B030D-6E8A-4147-A177-3AD203B41FA5}">
                      <a16:colId xmlns:a16="http://schemas.microsoft.com/office/drawing/2014/main" val="2718057108"/>
                    </a:ext>
                  </a:extLst>
                </a:gridCol>
              </a:tblGrid>
              <a:tr h="0">
                <a:tc>
                  <a:txBody>
                    <a:bodyPr/>
                    <a:lstStyle/>
                    <a:p>
                      <a:pPr>
                        <a:buNone/>
                      </a:pPr>
                      <a:r>
                        <a:rPr lang="en-US" sz="2000" b="1" dirty="0">
                          <a:latin typeface="Georgia" panose="02040502050405020303" pitchFamily="18" charset="0"/>
                        </a:rPr>
                        <a:t>RESTAURANTS BY PRICE RANGE</a:t>
                      </a:r>
                      <a:endParaRPr lang="en-US" sz="2000" dirty="0">
                        <a:latin typeface="Georgia" panose="02040502050405020303" pitchFamily="18" charset="0"/>
                      </a:endParaRPr>
                    </a:p>
                  </a:txBody>
                  <a:tcPr anchor="ctr">
                    <a:lnL>
                      <a:noFill/>
                    </a:lnL>
                    <a:lnR>
                      <a:noFill/>
                    </a:lnR>
                    <a:lnT>
                      <a:noFill/>
                    </a:lnT>
                    <a:lnB>
                      <a:noFill/>
                    </a:lnB>
                    <a:noFill/>
                  </a:tcPr>
                </a:tc>
                <a:extLst>
                  <a:ext uri="{0D108BD9-81ED-4DB2-BD59-A6C34878D82A}">
                    <a16:rowId xmlns:a16="http://schemas.microsoft.com/office/drawing/2014/main" val="1473751758"/>
                  </a:ext>
                </a:extLst>
              </a:tr>
            </a:tbl>
          </a:graphicData>
        </a:graphic>
      </p:graphicFrame>
    </p:spTree>
    <p:extLst>
      <p:ext uri="{BB962C8B-B14F-4D97-AF65-F5344CB8AC3E}">
        <p14:creationId xmlns:p14="http://schemas.microsoft.com/office/powerpoint/2010/main" val="1410768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3AFD0-839A-AC30-5278-B1BC8B812439}"/>
              </a:ext>
            </a:extLst>
          </p:cNvPr>
          <p:cNvSpPr>
            <a:spLocks noGrp="1"/>
          </p:cNvSpPr>
          <p:nvPr>
            <p:ph type="title"/>
          </p:nvPr>
        </p:nvSpPr>
        <p:spPr/>
        <p:txBody>
          <a:bodyPr/>
          <a:lstStyle/>
          <a:p>
            <a:endParaRPr lang="en-IN"/>
          </a:p>
        </p:txBody>
      </p:sp>
      <p:sp>
        <p:nvSpPr>
          <p:cNvPr id="4" name="Text Placeholder 3">
            <a:extLst>
              <a:ext uri="{FF2B5EF4-FFF2-40B4-BE49-F238E27FC236}">
                <a16:creationId xmlns:a16="http://schemas.microsoft.com/office/drawing/2014/main" id="{905CD314-822D-F85C-EEEE-3BB01569EBFA}"/>
              </a:ext>
            </a:extLst>
          </p:cNvPr>
          <p:cNvSpPr>
            <a:spLocks noGrp="1"/>
          </p:cNvSpPr>
          <p:nvPr>
            <p:ph type="body" idx="1"/>
          </p:nvPr>
        </p:nvSpPr>
        <p:spPr/>
        <p:txBody>
          <a:bodyPr/>
          <a:lstStyle/>
          <a:p>
            <a:endParaRPr lang="en-IN"/>
          </a:p>
        </p:txBody>
      </p:sp>
      <p:pic>
        <p:nvPicPr>
          <p:cNvPr id="3" name="Picture 2">
            <a:extLst>
              <a:ext uri="{FF2B5EF4-FFF2-40B4-BE49-F238E27FC236}">
                <a16:creationId xmlns:a16="http://schemas.microsoft.com/office/drawing/2014/main" id="{EB726BC6-5A4B-5943-F7AB-CCF767E14F22}"/>
              </a:ext>
            </a:extLst>
          </p:cNvPr>
          <p:cNvPicPr>
            <a:picLocks noChangeAspect="1"/>
          </p:cNvPicPr>
          <p:nvPr/>
        </p:nvPicPr>
        <p:blipFill>
          <a:blip r:embed="rId2">
            <a:extLst>
              <a:ext uri="{28A0092B-C50C-407E-A947-70E740481C1C}">
                <a14:useLocalDpi xmlns:a14="http://schemas.microsoft.com/office/drawing/2010/main" val="0"/>
              </a:ext>
            </a:extLst>
          </a:blip>
          <a:srcRect t="139" b="139"/>
          <a:stretch/>
        </p:blipFill>
        <p:spPr>
          <a:xfrm>
            <a:off x="334469" y="174919"/>
            <a:ext cx="11523061" cy="6508161"/>
          </a:xfrm>
          <a:prstGeom prst="rect">
            <a:avLst/>
          </a:prstGeom>
        </p:spPr>
      </p:pic>
    </p:spTree>
    <p:extLst>
      <p:ext uri="{BB962C8B-B14F-4D97-AF65-F5344CB8AC3E}">
        <p14:creationId xmlns:p14="http://schemas.microsoft.com/office/powerpoint/2010/main" val="2032685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D2EA2-DA7C-46A6-46B3-E5B4685FDE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48FC53-D814-261A-20AA-4AAA48A8203E}"/>
              </a:ext>
            </a:extLst>
          </p:cNvPr>
          <p:cNvSpPr>
            <a:spLocks noGrp="1"/>
          </p:cNvSpPr>
          <p:nvPr>
            <p:ph type="title"/>
          </p:nvPr>
        </p:nvSpPr>
        <p:spPr>
          <a:xfrm>
            <a:off x="3222885" y="365127"/>
            <a:ext cx="5621312" cy="668348"/>
          </a:xfrm>
        </p:spPr>
        <p:txBody>
          <a:bodyPr>
            <a:noAutofit/>
          </a:bodyPr>
          <a:lstStyle/>
          <a:p>
            <a:r>
              <a:rPr lang="en-US" sz="3200" b="1" dirty="0">
                <a:solidFill>
                  <a:srgbClr val="FF0000"/>
                </a:solidFill>
                <a:latin typeface="Georgia" panose="02040502050405020303" pitchFamily="18" charset="0"/>
              </a:rPr>
              <a:t>PROJECT SUMMARY</a:t>
            </a:r>
            <a:endParaRPr lang="en-US" sz="3200" dirty="0">
              <a:solidFill>
                <a:srgbClr val="FF0000"/>
              </a:solidFill>
            </a:endParaRPr>
          </a:p>
        </p:txBody>
      </p:sp>
      <p:sp>
        <p:nvSpPr>
          <p:cNvPr id="4" name="TextBox 3">
            <a:extLst>
              <a:ext uri="{FF2B5EF4-FFF2-40B4-BE49-F238E27FC236}">
                <a16:creationId xmlns:a16="http://schemas.microsoft.com/office/drawing/2014/main" id="{1A9F89B1-95C1-17F3-70FB-6D76F587570B}"/>
              </a:ext>
            </a:extLst>
          </p:cNvPr>
          <p:cNvSpPr txBox="1"/>
          <p:nvPr/>
        </p:nvSpPr>
        <p:spPr>
          <a:xfrm>
            <a:off x="1038068" y="1806395"/>
            <a:ext cx="10115863" cy="3539430"/>
          </a:xfrm>
          <a:prstGeom prst="rect">
            <a:avLst/>
          </a:prstGeom>
          <a:noFill/>
        </p:spPr>
        <p:txBody>
          <a:bodyPr wrap="square">
            <a:spAutoFit/>
          </a:bodyPr>
          <a:lstStyle/>
          <a:p>
            <a:pPr algn="just"/>
            <a:r>
              <a:rPr lang="en-US" sz="2800" dirty="0">
                <a:latin typeface="Constantia" panose="02030602050306030303" pitchFamily="18" charset="0"/>
              </a:rPr>
              <a:t>This is a data analysis project using the Zomato restaurant dataset. The goal is to study restaurant count, ratings, price levels, and services like delivery and table booking. We cleaned the data, made useful groups for ratings and price, and found key markets by city and country. We analyzed trends by year, quarter, and month to understand growth patterns. This project helps us understand customer choices and restaurant performance with clear data insights.</a:t>
            </a:r>
          </a:p>
        </p:txBody>
      </p:sp>
    </p:spTree>
    <p:extLst>
      <p:ext uri="{BB962C8B-B14F-4D97-AF65-F5344CB8AC3E}">
        <p14:creationId xmlns:p14="http://schemas.microsoft.com/office/powerpoint/2010/main" val="2711747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7F3A4-29A0-5025-D37B-2CCB83085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F0297-7E39-97D4-09C3-784510082006}"/>
              </a:ext>
            </a:extLst>
          </p:cNvPr>
          <p:cNvSpPr>
            <a:spLocks noGrp="1"/>
          </p:cNvSpPr>
          <p:nvPr>
            <p:ph type="title"/>
          </p:nvPr>
        </p:nvSpPr>
        <p:spPr>
          <a:xfrm>
            <a:off x="3777521" y="407283"/>
            <a:ext cx="4167265" cy="668348"/>
          </a:xfrm>
        </p:spPr>
        <p:txBody>
          <a:bodyPr>
            <a:noAutofit/>
          </a:bodyPr>
          <a:lstStyle/>
          <a:p>
            <a:r>
              <a:rPr lang="en-US" sz="3200" b="1" dirty="0">
                <a:solidFill>
                  <a:srgbClr val="FF0000"/>
                </a:solidFill>
                <a:latin typeface="Times New Roman" panose="02020603050405020304" pitchFamily="18" charset="0"/>
                <a:cs typeface="Times New Roman" panose="02020603050405020304" pitchFamily="18" charset="0"/>
              </a:rPr>
              <a:t>CONCLUSION</a:t>
            </a:r>
            <a:endParaRPr lang="en-US" sz="3200" dirty="0">
              <a:solidFill>
                <a:srgbClr val="FF0000"/>
              </a:solidFill>
            </a:endParaRPr>
          </a:p>
        </p:txBody>
      </p:sp>
      <p:graphicFrame>
        <p:nvGraphicFramePr>
          <p:cNvPr id="9" name="Table 8">
            <a:extLst>
              <a:ext uri="{FF2B5EF4-FFF2-40B4-BE49-F238E27FC236}">
                <a16:creationId xmlns:a16="http://schemas.microsoft.com/office/drawing/2014/main" id="{A0D0ECBC-CE7A-66AC-6B49-D0CAFE1B5661}"/>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1329248474"/>
                    </a:ext>
                  </a:extLst>
                </a:gridCol>
              </a:tblGrid>
              <a:tr h="0">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3565526788"/>
                  </a:ext>
                </a:extLst>
              </a:tr>
            </a:tbl>
          </a:graphicData>
        </a:graphic>
      </p:graphicFrame>
      <p:sp>
        <p:nvSpPr>
          <p:cNvPr id="38" name="TextBox 37">
            <a:extLst>
              <a:ext uri="{FF2B5EF4-FFF2-40B4-BE49-F238E27FC236}">
                <a16:creationId xmlns:a16="http://schemas.microsoft.com/office/drawing/2014/main" id="{0052D43E-CCE0-6039-385A-8815E99A4EA5}"/>
              </a:ext>
            </a:extLst>
          </p:cNvPr>
          <p:cNvSpPr txBox="1"/>
          <p:nvPr/>
        </p:nvSpPr>
        <p:spPr>
          <a:xfrm>
            <a:off x="1184223" y="2039869"/>
            <a:ext cx="9353862" cy="3108543"/>
          </a:xfrm>
          <a:prstGeom prst="rect">
            <a:avLst/>
          </a:prstGeom>
          <a:noFill/>
        </p:spPr>
        <p:txBody>
          <a:bodyPr wrap="square">
            <a:spAutoFit/>
          </a:bodyPr>
          <a:lstStyle/>
          <a:p>
            <a:pPr marL="0" lvl="0" indent="0" algn="just" eaLnBrk="0" fontAlgn="base" hangingPunct="0">
              <a:lnSpc>
                <a:spcPct val="100000"/>
              </a:lnSpc>
              <a:spcBef>
                <a:spcPct val="0"/>
              </a:spcBef>
              <a:spcAft>
                <a:spcPct val="0"/>
              </a:spcAft>
              <a:buFontTx/>
              <a:buChar char="•"/>
            </a:pPr>
            <a:r>
              <a:rPr lang="en-US" altLang="en-US" sz="2800" dirty="0">
                <a:latin typeface="Constantia" panose="02030602050306030303" pitchFamily="18" charset="0"/>
              </a:rPr>
              <a:t>Made Zomato data into a clean Power BI dashboard.</a:t>
            </a:r>
          </a:p>
          <a:p>
            <a:pPr marL="0" lvl="0" indent="0" algn="just" eaLnBrk="0" fontAlgn="base" hangingPunct="0">
              <a:lnSpc>
                <a:spcPct val="100000"/>
              </a:lnSpc>
              <a:spcBef>
                <a:spcPct val="0"/>
              </a:spcBef>
              <a:spcAft>
                <a:spcPct val="0"/>
              </a:spcAft>
              <a:buFontTx/>
              <a:buChar char="•"/>
            </a:pPr>
            <a:r>
              <a:rPr lang="en-US" altLang="en-US" sz="2800" dirty="0">
                <a:latin typeface="Constantia" panose="02030602050306030303" pitchFamily="18" charset="0"/>
              </a:rPr>
              <a:t>Used rating and price groups to show clear meaning.</a:t>
            </a:r>
          </a:p>
          <a:p>
            <a:pPr marL="0" lvl="0" indent="0" algn="just" eaLnBrk="0" fontAlgn="base" hangingPunct="0">
              <a:lnSpc>
                <a:spcPct val="100000"/>
              </a:lnSpc>
              <a:spcBef>
                <a:spcPct val="0"/>
              </a:spcBef>
              <a:spcAft>
                <a:spcPct val="0"/>
              </a:spcAft>
              <a:buFontTx/>
              <a:buChar char="•"/>
            </a:pPr>
            <a:r>
              <a:rPr lang="en-US" altLang="en-US" sz="2800" dirty="0">
                <a:latin typeface="Constantia" panose="02030602050306030303" pitchFamily="18" charset="0"/>
              </a:rPr>
              <a:t>Found top cities and top food types that customers like.</a:t>
            </a:r>
          </a:p>
          <a:p>
            <a:pPr marL="0" lvl="0" indent="0" algn="just" eaLnBrk="0" fontAlgn="base" hangingPunct="0">
              <a:lnSpc>
                <a:spcPct val="100000"/>
              </a:lnSpc>
              <a:spcBef>
                <a:spcPct val="0"/>
              </a:spcBef>
              <a:spcAft>
                <a:spcPct val="0"/>
              </a:spcAft>
              <a:buFontTx/>
              <a:buChar char="•"/>
            </a:pPr>
            <a:r>
              <a:rPr lang="en-US" altLang="en-US" sz="2800" dirty="0">
                <a:latin typeface="Constantia" panose="02030602050306030303" pitchFamily="18" charset="0"/>
              </a:rPr>
              <a:t>Saw growth every year and every month.</a:t>
            </a:r>
          </a:p>
          <a:p>
            <a:pPr marL="0" lvl="0" indent="0" algn="just" eaLnBrk="0" fontAlgn="base" hangingPunct="0">
              <a:lnSpc>
                <a:spcPct val="100000"/>
              </a:lnSpc>
              <a:spcBef>
                <a:spcPct val="0"/>
              </a:spcBef>
              <a:spcAft>
                <a:spcPct val="0"/>
              </a:spcAft>
              <a:buFontTx/>
              <a:buChar char="•"/>
            </a:pPr>
            <a:r>
              <a:rPr lang="en-US" altLang="en-US" sz="2800" dirty="0">
                <a:latin typeface="Constantia" panose="02030602050306030303" pitchFamily="18" charset="0"/>
              </a:rPr>
              <a:t>Checked delivery and table booking in percentage.</a:t>
            </a:r>
          </a:p>
          <a:p>
            <a:pPr lvl="0" algn="just" eaLnBrk="0" fontAlgn="base" hangingPunct="0">
              <a:spcBef>
                <a:spcPct val="0"/>
              </a:spcBef>
              <a:spcAft>
                <a:spcPct val="0"/>
              </a:spcAft>
              <a:buFontTx/>
              <a:buChar char="•"/>
            </a:pPr>
            <a:r>
              <a:rPr lang="en-US" altLang="en-US" sz="2800" dirty="0">
                <a:latin typeface="Constantia" panose="02030602050306030303" pitchFamily="18" charset="0"/>
              </a:rPr>
              <a:t>Added slicers so clear numbers change when we filter.</a:t>
            </a:r>
          </a:p>
          <a:p>
            <a:pPr marL="0" lvl="0" indent="0" algn="just" eaLnBrk="0" fontAlgn="base" hangingPunct="0">
              <a:lnSpc>
                <a:spcPct val="100000"/>
              </a:lnSpc>
              <a:spcBef>
                <a:spcPct val="0"/>
              </a:spcBef>
              <a:spcAft>
                <a:spcPct val="0"/>
              </a:spcAft>
              <a:buFontTx/>
              <a:buChar char="•"/>
            </a:pPr>
            <a:r>
              <a:rPr lang="en-US" altLang="en-US" sz="2800" dirty="0">
                <a:latin typeface="Constantia" panose="02030602050306030303" pitchFamily="18" charset="0"/>
              </a:rPr>
              <a:t>Dashboard gives insights for better planning</a:t>
            </a:r>
          </a:p>
        </p:txBody>
      </p:sp>
    </p:spTree>
    <p:extLst>
      <p:ext uri="{BB962C8B-B14F-4D97-AF65-F5344CB8AC3E}">
        <p14:creationId xmlns:p14="http://schemas.microsoft.com/office/powerpoint/2010/main" val="4159394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2CC6F-1451-BB29-1D35-092A94B69617}"/>
              </a:ext>
            </a:extLst>
          </p:cNvPr>
          <p:cNvSpPr>
            <a:spLocks noGrp="1"/>
          </p:cNvSpPr>
          <p:nvPr>
            <p:ph type="ctrTitle"/>
          </p:nvPr>
        </p:nvSpPr>
        <p:spPr>
          <a:xfrm>
            <a:off x="2616277" y="2061838"/>
            <a:ext cx="6959446" cy="1662475"/>
          </a:xfrm>
        </p:spPr>
        <p:txBody>
          <a:bodyPr>
            <a:normAutofit/>
          </a:bodyPr>
          <a:lstStyle/>
          <a:p>
            <a:r>
              <a:rPr lang="en-US" sz="4800" b="1" dirty="0">
                <a:solidFill>
                  <a:srgbClr val="FF0000"/>
                </a:solidFill>
                <a:latin typeface="Cambria" panose="02040503050406030204" pitchFamily="18" charset="0"/>
                <a:ea typeface="Cambria" panose="02040503050406030204" pitchFamily="18" charset="0"/>
              </a:rPr>
              <a:t>Thank you </a:t>
            </a:r>
            <a:endParaRPr lang="en-IN" sz="4800" b="1" dirty="0">
              <a:solidFill>
                <a:srgbClr val="FF0000"/>
              </a:solidFill>
            </a:endParaRPr>
          </a:p>
        </p:txBody>
      </p:sp>
    </p:spTree>
    <p:extLst>
      <p:ext uri="{BB962C8B-B14F-4D97-AF65-F5344CB8AC3E}">
        <p14:creationId xmlns:p14="http://schemas.microsoft.com/office/powerpoint/2010/main" val="1516120207"/>
      </p:ext>
    </p:extLst>
  </p:cSld>
  <p:clrMapOvr>
    <a:masterClrMapping/>
  </p:clrMapOvr>
</p:sld>
</file>

<file path=ppt/theme/theme1.xml><?xml version="1.0" encoding="utf-8"?>
<a:theme xmlns:a="http://schemas.openxmlformats.org/drawingml/2006/main" name="Parcel">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4578</TotalTime>
  <Words>543</Words>
  <Application>Microsoft Office PowerPoint</Application>
  <PresentationFormat>Widescreen</PresentationFormat>
  <Paragraphs>65</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Cambria</vt:lpstr>
      <vt:lpstr>Constantia</vt:lpstr>
      <vt:lpstr>Georgia</vt:lpstr>
      <vt:lpstr>Gill Sans MT</vt:lpstr>
      <vt:lpstr>Times New Roman</vt:lpstr>
      <vt:lpstr>Parcel</vt:lpstr>
      <vt:lpstr>ZOMATO RESTAURANT ANALYTICS PROJECT</vt:lpstr>
      <vt:lpstr>AGENDA</vt:lpstr>
      <vt:lpstr>INTRODUCTION</vt:lpstr>
      <vt:lpstr>DATA OVERVIEW</vt:lpstr>
      <vt:lpstr>KPIs &amp; ANALYSIS OVERVIEW</vt:lpstr>
      <vt:lpstr>KPIs &amp; ANALYSIS OVERVIEW</vt:lpstr>
      <vt:lpstr>KPIs &amp; ANALYSIS OVERVIEW</vt:lpstr>
      <vt:lpstr>KPIs &amp; ANALYSIS OVERVIEW</vt:lpstr>
      <vt:lpstr>KPIs &amp; ANALYSIS OVERVIEW</vt:lpstr>
      <vt:lpstr>KPIs &amp; ANALYSIS OVERVIEW</vt:lpstr>
      <vt:lpstr>KPIs &amp; ANALYSIS OVERVIEW</vt:lpstr>
      <vt:lpstr>PowerPoint Presentation</vt:lpstr>
      <vt:lpstr>PROJECT SUMMARY</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Mahesh Gowda</dc:creator>
  <cp:lastModifiedBy>M KISHORE KUMAR</cp:lastModifiedBy>
  <cp:revision>46</cp:revision>
  <dcterms:created xsi:type="dcterms:W3CDTF">2024-09-24T07:25:25Z</dcterms:created>
  <dcterms:modified xsi:type="dcterms:W3CDTF">2026-01-07T16:52:56Z</dcterms:modified>
</cp:coreProperties>
</file>